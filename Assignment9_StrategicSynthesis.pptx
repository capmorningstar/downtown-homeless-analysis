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4389120" cy="384048"/>
          </a:xfrm>
          <a:prstGeom prst="roundRect">
            <a:avLst/>
          </a:prstGeom>
          <a:solidFill>
            <a:srgbClr val="D3DFFF"/>
          </a:solidFill>
          <a:ln w="12700">
            <a:solidFill>
              <a:srgbClr val="9A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71600"/>
            <a:ext cx="4389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93E9C"/>
                </a:solidFill>
                <a:latin typeface="Segoe UI"/>
              </a:defRPr>
            </a:pPr>
            <a:r>
              <a:t>DATA SCIENCE ALLIANCE • EXECUTIVE SYNTHESIS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293E9C"/>
                </a:solidFill>
                <a:latin typeface="Trebuchet MS"/>
              </a:defRPr>
            </a:pPr>
            <a:r>
              <a:t>Downtown San Diego Unsheltered Homelessness:</a:t>
            </a:r>
            <a:br/>
            <a:r>
              <a:t>Strategic Synthesis &amp; Policy Roadmap (2017–2026)</a:t>
            </a:r>
          </a:p>
          <a:p>
            <a:pPr>
              <a:defRPr sz="1500" b="1">
                <a:solidFill>
                  <a:srgbClr val="3A58E4"/>
                </a:solidFill>
                <a:latin typeface="Segoe UI"/>
              </a:defRPr>
            </a:pPr>
            <a:r>
              <a:t>Longitudinal Econometrics, Spatial Panel Dynamics, Machine Learning Forecasting &amp; Regional Policy Impacts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206240"/>
            <a:ext cx="9144000" cy="13716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3891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PARTNERSHIP &amp; AUTHOR</a:t>
            </a:r>
          </a:p>
          <a:p>
            <a:pPr>
              <a:defRPr sz="900">
                <a:solidFill>
                  <a:srgbClr val="1D1F26"/>
                </a:solidFill>
                <a:latin typeface="Segoe UI"/>
              </a:defRPr>
            </a:pPr>
            <a:r>
              <a:t>Data Science Alliance (DSA) in partnership with DSDP and RTFH</a:t>
            </a:r>
            <a:br/>
            <a:r>
              <a:t>Lead Analyst: Kyaw Soe Lwin | Project Lead: Adir Mancebo Jr.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DATA FOUNDATION</a:t>
            </a:r>
          </a:p>
          <a:p>
            <a:pPr>
              <a:defRPr sz="900">
                <a:solidFill>
                  <a:srgbClr val="1D1F26"/>
                </a:solidFill>
                <a:latin typeface="Segoe UI"/>
              </a:defRPr>
            </a:pPr>
            <a:r>
              <a:t>9 Years of Monthly Field Counts (2017–2025) across 382 Blocks</a:t>
            </a:r>
            <a:br/>
            <a:r>
              <a:t>Point-in-Time (PIT) Regional Censuses (2017–2025)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3891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A58E4"/>
                </a:solidFill>
                <a:latin typeface="Segoe UI"/>
              </a:defRPr>
            </a:pPr>
            <a:r>
              <a:t>ANALYTICAL FRAMEWORK</a:t>
            </a:r>
          </a:p>
          <a:p>
            <a:pPr>
              <a:defRPr sz="900">
                <a:solidFill>
                  <a:srgbClr val="1D1F26"/>
                </a:solidFill>
                <a:latin typeface="Segoe UI"/>
              </a:defRPr>
            </a:pPr>
            <a:r>
              <a:t>Spatial Getis-Ord Gi* • 5-Fold Walk-Forward XGBoost ML • Policy Regime OLS • 4 Public Communication Rules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EXECUTIVE FRAMING &amp; CORE FINDINGS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Executive KPI Dashboard: Crisis Peak, Enforcement Contraction &amp; Hotspot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2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63040"/>
            <a:ext cx="2542032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DC2626"/>
                </a:solidFill>
                <a:latin typeface="Trebuchet MS"/>
              </a:defRPr>
            </a:pPr>
            <a:r>
              <a:t>2,103</a:t>
            </a:r>
          </a:p>
          <a:p>
            <a:pPr>
              <a:spcAft>
                <a:spcPts val="3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CRISIS PEAK (MAY 2023)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Highest headline count in downtown history; culmination of 3-year surge.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6432" y="1463040"/>
            <a:ext cx="2542032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059669"/>
                </a:solidFill>
                <a:latin typeface="Trebuchet MS"/>
              </a:defRPr>
            </a:pPr>
            <a:r>
              <a:t>851</a:t>
            </a:r>
          </a:p>
          <a:p>
            <a:pPr>
              <a:spcAft>
                <a:spcPts val="3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RECENT COUNT (DEC 2025)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-59.5% reduction from peak post-camping ordinance enforcement.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463040"/>
            <a:ext cx="2542032" cy="73152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293E9C"/>
                </a:solidFill>
                <a:latin typeface="Trebuchet MS"/>
              </a:defRPr>
            </a:pPr>
            <a:r>
              <a:t>54.8%</a:t>
            </a:r>
          </a:p>
          <a:p>
            <a:pPr>
              <a:spcAft>
                <a:spcPts val="3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EAST VILLAGE CONCENTRATION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Epicenter of downtown homelessness (historical monthly average 552.8).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1463040"/>
            <a:ext cx="2542032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1463040"/>
            <a:ext cx="2542032" cy="73152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1627632"/>
            <a:ext cx="217627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3A58E4"/>
                </a:solidFill>
                <a:latin typeface="Trebuchet MS"/>
              </a:defRPr>
            </a:pPr>
            <a:r>
              <a:t>121m</a:t>
            </a:r>
          </a:p>
          <a:p>
            <a:pPr>
              <a:spcAft>
                <a:spcPts val="3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SOUTHWARD CENTROID SHIFT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Hotspot migration vector toward Commercial St / Imperial Ave transit hub.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57600"/>
            <a:ext cx="10728655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84048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3E9C"/>
                </a:solidFill>
                <a:latin typeface="Trebuchet MS"/>
              </a:defRPr>
            </a:pPr>
            <a:r>
              <a:t>THE STRATEGIC REALITY: DOWNTOWN CONTRACTION VS. REGIONAL DISPLACEMENT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Three Trajectory Epochs: </a:t>
            </a:r>
            <a:r>
              <a:rPr sz="950">
                <a:solidFill>
                  <a:srgbClr val="1D1F26"/>
                </a:solidFill>
                <a:latin typeface="Segoe UI"/>
              </a:rPr>
              <a:t>Downtown transitioned through Baseline Contraction (2017–2020), Crisis Surge (2021–2023), and Enforcement Pullback (2024–2025). Current counts have stabilized near ~850–920.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Debunking Seasonality: </a:t>
            </a:r>
            <a:r>
              <a:rPr sz="950">
                <a:solidFill>
                  <a:srgbClr val="1D1F26"/>
                </a:solidFill>
                <a:latin typeface="Segoe UI"/>
              </a:rPr>
              <a:t>Non-parametric tests prove 8 of 9 downtown series have NO statistically significant seasonality (H=3.00, p=0.99). Resource budgeting based on 'winter surges' or 'summer peaks' is empirically flawed.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The Boundary Wedge: </a:t>
            </a:r>
            <a:r>
              <a:rPr sz="950">
                <a:solidFill>
                  <a:srgbClr val="1D1F26"/>
                </a:solidFill>
                <a:latin typeface="Segoe UI"/>
              </a:rPr>
              <a:t>In 2022, DSDP added 121 peripheral blocks, accounting for 4% to 33% of reported count increases. Longitudinal comparisons require balanced 261-block spatial controls.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Regional Spillover Paradox: </a:t>
            </a:r>
            <a:r>
              <a:rPr sz="950">
                <a:solidFill>
                  <a:srgbClr val="1D1F26"/>
                </a:solidFill>
                <a:latin typeface="Segoe UI"/>
              </a:rPr>
              <a:t>Downtown's share of county unsheltered population collapsed from 37.5% (2023) to 14.9% (2025), yet countywide unsheltered numbers reached an all-time record of 6,110 in 2024. Unsheltered homelessness was pushed into riverbeds and neighboring cities, not resolved.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LONGITUDINAL DYNAMICS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The 9-Year Trajectory: Three Distinct Macro Policy Epochs (2017–2025)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3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1_clean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59882"/>
            <a:ext cx="6400800" cy="277831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572768"/>
            <a:ext cx="35963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Trebuchet MS"/>
              </a:defRPr>
            </a:pPr>
            <a:r>
              <a:t>Epoch 1: Baseline Contraction (2017–2020)</a:t>
            </a:r>
          </a:p>
          <a:p>
            <a:pPr>
              <a:spcAft>
                <a:spcPts val="2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Low of 689 in April 2020 (-19.7% YoY)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Characterized by shelter expansions and COVID-19 emergency response (Convention Center de-densification Operation Shelter to Home).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017520"/>
            <a:ext cx="396209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127248"/>
            <a:ext cx="35963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C2626"/>
                </a:solidFill>
                <a:latin typeface="Trebuchet MS"/>
              </a:defRPr>
            </a:pPr>
            <a:r>
              <a:t>Epoch 2: The Crisis Surge (2021–2023)</a:t>
            </a:r>
          </a:p>
          <a:p>
            <a:pPr>
              <a:spcAft>
                <a:spcPts val="2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May 2023 Peak of 2,103 (+144% from 2020 low)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Convention Center shelter closure, eviction moratoria lapses, inflation, and fentanyl expansion drove unprecedented street encampments.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4572000"/>
            <a:ext cx="396209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4681728"/>
            <a:ext cx="359633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Trebuchet MS"/>
              </a:defRPr>
            </a:pPr>
            <a:r>
              <a:t>Epoch 3: Enforcement Pullback (2024–2025)</a:t>
            </a:r>
          </a:p>
          <a:p>
            <a:pPr>
              <a:spcAft>
                <a:spcPts val="2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Collapse to 851 (-59.5% from peak)</a:t>
            </a:r>
          </a:p>
          <a:p>
            <a:pPr>
              <a:defRPr sz="850">
                <a:solidFill>
                  <a:srgbClr val="647491"/>
                </a:solidFill>
                <a:latin typeface="Segoe UI"/>
              </a:defRPr>
            </a:pPr>
            <a:r>
              <a:t>City of San Diego Unsafe Camping Ordinance (July 2023) and Safe Sleeping Sites (O Lot, 20th &amp; B) cleared key commercial corridors.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ECONOMETRIC SEASONALITY PROOF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Debunking the Seasonality Myth: Homelessness Is Not Driven by Weather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4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9436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5577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Kruskal-Wallis Non-Parametric Seasonality Tests (12 Months, df=11)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194560"/>
          <a:ext cx="55778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1463040"/>
              </a:tblGrid>
              <a:tr h="356616"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Geographic Series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H-Stat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Seasonality Verdict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Overall - Reported 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Overall - Fixed Core Six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3.58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0.980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East Village (Epicenter)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City Center (Core)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5.21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0.921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Gaslamp Quarter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Columbia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4.60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0.949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Cortez Hill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Marina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19.82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0.048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Borderline (Hotel/Park Edge)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356616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Outside Perimeter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0.881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Zero Seasonality (p &gt;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949440" y="1463040"/>
            <a:ext cx="451073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1645920"/>
            <a:ext cx="39620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WHY THIS MATTERS FOR MUNICIPAL BUDGETING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The 'Weather Surge' Fallacy: </a:t>
            </a:r>
            <a:r>
              <a:rPr sz="919">
                <a:solidFill>
                  <a:srgbClr val="1D1F26"/>
                </a:solidFill>
                <a:latin typeface="Segoe UI"/>
              </a:rPr>
              <a:t>Civic planning has historically assumed summer surges or winter lulls. STL decomposition and non-parametric testing prove weather accounts for less than 5% of monthly count variance.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Macro Drivers Dominate: </a:t>
            </a:r>
            <a:r>
              <a:rPr sz="919">
                <a:solidFill>
                  <a:srgbClr val="1D1F26"/>
                </a:solidFill>
                <a:latin typeface="Segoe UI"/>
              </a:rPr>
              <a:t>Month-to-month variance is governed almost exclusively by multi-year policy shifts, emergency shelter capacity expansions/closures, and macroeconomic housing stress.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Eliminate Fluctuating Allocations: </a:t>
            </a:r>
            <a:r>
              <a:rPr sz="919">
                <a:solidFill>
                  <a:srgbClr val="1D1F26"/>
                </a:solidFill>
                <a:latin typeface="Segoe UI"/>
              </a:rPr>
              <a:t>Seasonal emergency shelter beds (e.g. 'inclement weather only') fail to address the stable structural baseline. Funding should be locked into permanent year-round operating capacity.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Marina Exception Explained: </a:t>
            </a:r>
            <a:r>
              <a:rPr sz="919">
                <a:solidFill>
                  <a:srgbClr val="1D1F26"/>
                </a:solidFill>
                <a:latin typeface="Segoe UI"/>
              </a:rPr>
              <a:t>Only Marina showed borderline significance (p=0.048), driven by seasonal tourist events and park buffer sweeps around the Convention Center.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SPATIAL PANEL ACCOUNTING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The Boundary Expansion Wedge: Disentangling Reality from Map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5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footprint_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6123"/>
            <a:ext cx="6400800" cy="30258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ACCOUNTING FOR THE 121-BLOCK EXPANSION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The Administrative Shift: </a:t>
            </a:r>
            <a:r>
              <a:rPr sz="919">
                <a:solidFill>
                  <a:srgbClr val="1D1F26"/>
                </a:solidFill>
                <a:latin typeface="Segoe UI"/>
              </a:rPr>
              <a:t>In January 2022, DSDP expanded survey coverage from 261 blocks to 382 blocks by incorporating 121 peripheral blocks across Golden Hill (52), Barrio Logan (35), and Sherman Heights (34).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Quantifying the Wedge: </a:t>
            </a:r>
            <a:r>
              <a:rPr sz="919">
                <a:solidFill>
                  <a:srgbClr val="1D1F26"/>
                </a:solidFill>
                <a:latin typeface="Segoe UI"/>
              </a:rPr>
              <a:t>Between 4.0% and 32.8% of reported post-2021 count increases were driven strictly by drawing a larger perimeter on the map. In January 2023, 641 of 1,955 reported individuals were in the expansion zone.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Underlying Crisis Remained Real: </a:t>
            </a:r>
            <a:r>
              <a:rPr sz="919">
                <a:solidFill>
                  <a:srgbClr val="1D1F26"/>
                </a:solidFill>
                <a:latin typeface="Segoe UI"/>
              </a:rPr>
              <a:t>The balanced 261-block panel shows counts still surged +71% in 2022. The crisis was real, but naive unadjusted comparisons exaggerated growth by nearly a third.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Data Engineering Fix: </a:t>
            </a:r>
            <a:r>
              <a:rPr sz="919">
                <a:solidFill>
                  <a:srgbClr val="1D1F26"/>
                </a:solidFill>
                <a:latin typeface="Segoe UI"/>
              </a:rPr>
              <a:t>Constructed BlockPanel_Balanced_261.csv to enforce strict longitudinal panel balance across all 12 digitized count dates (2018–2025).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GEOGRAPHIC CONCENTRATION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Where Homelessness Concentrates: The East Village Epicenter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6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2179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5852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Top Persistent Hotspot Blocks in Downtown San Diego (Getis-Ord Gi*)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148840"/>
          <a:ext cx="58521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1371600"/>
                <a:gridCol w="914400"/>
                <a:gridCol w="457200"/>
                <a:gridCol w="548640"/>
              </a:tblGrid>
              <a:tr h="445770"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Block Identifier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Hotspot Dates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Transit Dist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16th St &amp; Imperial 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9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#2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I-5 SB &amp; Imperial Ave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8 / 12 dates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67%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137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I-5 SB Off-Ramp Border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204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#4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I-5 SB On-Ramp Border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 / 12 dates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33%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154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17th St &amp; Imperial 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72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16th St &amp; J St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 / 12 dates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283 m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4577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#7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17th St &amp; J 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South East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 / 12 dates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274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223760" y="1463040"/>
            <a:ext cx="4236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1645920"/>
            <a:ext cx="3687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THE BUILT-ENVIRONMENT MAGNET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East Village Volume Dominance: </a:t>
            </a:r>
            <a:r>
              <a:rPr sz="919">
                <a:solidFill>
                  <a:srgbClr val="1D1F26"/>
                </a:solidFill>
                <a:latin typeface="Segoe UI"/>
              </a:rPr>
              <a:t>Historically accounts for 54.8% of all downtown homelessness (mean 552.8 individuals). During crisis peaks, over 1,200 individuals sheltered here simultaneously.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100% of Top 10 in South East Village: </a:t>
            </a:r>
            <a:r>
              <a:rPr sz="919">
                <a:solidFill>
                  <a:srgbClr val="1D1F26"/>
                </a:solidFill>
                <a:latin typeface="Segoe UI"/>
              </a:rPr>
              <a:t>Every single one of the top 10 persistent hotspot blocks is located south of Market Street in East Village, forming a permanent geographic cluster.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The Built Environment Triad: </a:t>
            </a:r>
            <a:r>
              <a:rPr sz="919">
                <a:solidFill>
                  <a:srgbClr val="1D1F26"/>
                </a:solidFill>
                <a:latin typeface="Segoe UI"/>
              </a:rPr>
              <a:t>Hotspots do not occur at random; they are anchored by (1) Regional Transit Hubs (12th &amp; Imperial Transit Center), (2) Intake Services (Father Joe's Villages, Neil Good Day Center), and (3) Caltrans freeway underpasses providing structural overhead shelter.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CLUSTER MIGRATION VECTOR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Geospatial Hotspot Dynamics: The 121-Meter Southward Displacement Vector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7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hotspot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DRIVERS OF CLUSTER DISPLACEMENT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121-Meter Migration Vector: </a:t>
            </a:r>
            <a:r>
              <a:rPr sz="919">
                <a:solidFill>
                  <a:srgbClr val="1D1F26"/>
                </a:solidFill>
                <a:latin typeface="Segoe UI"/>
              </a:rPr>
              <a:t>Between the Early Period (2018–2020) and the Recent Period (2022–2025), the count-weighted hotspot centroid migrated 121 meters south toward Commercial St and Imperial Ave.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Northern Right-of-Way Sweeps: </a:t>
            </a:r>
            <a:r>
              <a:rPr sz="919">
                <a:solidFill>
                  <a:srgbClr val="1D1F26"/>
                </a:solidFill>
                <a:latin typeface="Segoe UI"/>
              </a:rPr>
              <a:t>Aggressive enforcement of sidewalk accessibility in commercial retail corridors (Gaslamp, Core/City Center, North East Village) pushed individuals southward.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Freeway &amp; Industrial Buffer: </a:t>
            </a:r>
            <a:r>
              <a:rPr sz="919">
                <a:solidFill>
                  <a:srgbClr val="1D1F26"/>
                </a:solidFill>
                <a:latin typeface="Segoe UI"/>
              </a:rPr>
              <a:t>Displaced encampments compressed into the industrial transition zone bordering Interstate 5 and the MTS rail yards, where enforcement was historically less continuous.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Service Gravity: </a:t>
            </a:r>
            <a:r>
              <a:rPr sz="919">
                <a:solidFill>
                  <a:srgbClr val="1D1F26"/>
                </a:solidFill>
                <a:latin typeface="Segoe UI"/>
              </a:rPr>
              <a:t>Expanding safe sleeping and shelter intakes along 20th &amp; B and Commercial Street acted as an institutional gravity well cementing the southward migration.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PREDICTIVE INTELLIGENCE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Multi-Model Machine Learning Benchmark: 5-Fold Walk-Forward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8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400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00200"/>
            <a:ext cx="6035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5-Fold Walk-Forward Cross-Validation Performance (96 Months, Zero Leakage)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2148840"/>
          <a:ext cx="60350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1097280"/>
              </a:tblGrid>
              <a:tr h="594360"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3-Month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6-Month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12-Month CV MAPE</a:t>
                      </a:r>
                    </a:p>
                  </a:txBody>
                  <a:tcPr>
                    <a:solidFill>
                      <a:srgbClr val="293E9C"/>
                    </a:solidFill>
                  </a:tcPr>
                </a:tc>
              </a:tr>
              <a:tr h="59436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XGBoost (Champion)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12.45% ± 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18.92% ± 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27.34% ± 12.6%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39.34% ± 25.4%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Holt-Winters Exp Smooth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13.82% ± 6.2%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20.15% ± 9.1%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28.90% ± 13.8%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39.57% ± 27.6%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9436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SARIMA (1,1,1)(0,0,0)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14.10% ± 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21.50% ± 11.2%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30.45% ± 16.5%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40.10% ± 34.5%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Naive Seasonal (t-12)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19.85% ± 9.5%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29.40% ± 14.2%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38.20% ± 18.9%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51.34% ± 24.5%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94360">
                <a:tc>
                  <a:txBody>
                    <a:bodyPr wrap="square" lIns="54864" rIns="54864" tIns="54864" bIns="54864"/>
                    <a:lstStyle/>
                    <a:p>
                      <a:pPr algn="l">
                        <a:defRPr sz="850" b="1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Prophet (Changepoints)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22.30% ± 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33.15% ± 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45.80% ± 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54864" bIns="54864"/>
                    <a:lstStyle/>
                    <a:p>
                      <a:pPr algn="ctr">
                        <a:defRPr sz="850">
                          <a:solidFill>
                            <a:srgbClr val="1D1F26"/>
                          </a:solidFill>
                          <a:latin typeface="Segoe UI"/>
                        </a:defRPr>
                      </a:pPr>
                      <a:r>
                        <a:t>63.81% ± 35.5%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200" y="1463040"/>
            <a:ext cx="414497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35963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CORE FORECASTING TAKEAWAYS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XGBoost Wins Citywide: </a:t>
            </a:r>
            <a:r>
              <a:rPr sz="919">
                <a:solidFill>
                  <a:srgbClr val="1D1F26"/>
                </a:solidFill>
                <a:latin typeface="Segoe UI"/>
              </a:rPr>
              <a:t>Achieved lowest 12-month CV error (39.34%) and best 2025 hold-out performance (38.48%). Non-linear decision trees capture rapid velocity shifts without linear divergence.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Holt-Winters as Parametric Anchor: </a:t>
            </a:r>
            <a:r>
              <a:rPr sz="919">
                <a:solidFill>
                  <a:srgbClr val="1D1F26"/>
                </a:solidFill>
                <a:latin typeface="Segoe UI"/>
              </a:rPr>
              <a:t>Holt-Winters achieved virtually tied accuracy (39.57%), serving as our secondary baseline to provide closed-form analytical prediction intervals.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Why Prophet Failed: </a:t>
            </a:r>
            <a:r>
              <a:rPr sz="919">
                <a:solidFill>
                  <a:srgbClr val="1D1F26"/>
                </a:solidFill>
                <a:latin typeface="Segoe UI"/>
              </a:rPr>
              <a:t>Prophet's Bayesian changepoints overshot post-2023 counts by +63.8%, failing to adapt to the camping ordinance inflection. Fixed changepoint models should NOT be used for policy stress testing.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PROSPECTIVE FORECASTING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2026 Forward Outlook: Stress-Testing Three Strategic Policy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9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forecast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PROSPECTIVE 2026 SCENARIOS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Baseline (Status Quo): </a:t>
            </a:r>
            <a:r>
              <a:rPr sz="919">
                <a:solidFill>
                  <a:srgbClr val="1D1F26"/>
                </a:solidFill>
                <a:latin typeface="Segoe UI"/>
              </a:rPr>
              <a:t>Monthly counts projected to remain range-bound between 850 and 920 individuals (Month 12: 890). Assumes current shelter turnover and enforcement levels.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Optimistic Scenario (-24% at M12): </a:t>
            </a:r>
            <a:r>
              <a:rPr sz="919">
                <a:solidFill>
                  <a:srgbClr val="1D1F26"/>
                </a:solidFill>
                <a:latin typeface="Segoe UI"/>
              </a:rPr>
              <a:t>Accelerated Safe Sleeping Sites and 800 shelter beds drive downtown street counts down to ~670 individuals by December 2026.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Pessimistic Scenario (+26% at M12): </a:t>
            </a:r>
            <a:r>
              <a:rPr sz="919">
                <a:solidFill>
                  <a:srgbClr val="1D1F26"/>
                </a:solidFill>
                <a:latin typeface="Segoe UI"/>
              </a:rPr>
              <a:t>Capacity exhaustion, shelter closures, and eviction spikes push counts back up to ~1,110 individuals by December 2026.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The Necessity of Uncertainty Bands: </a:t>
            </a:r>
            <a:r>
              <a:rPr sz="919">
                <a:solidFill>
                  <a:srgbClr val="1D1F26"/>
                </a:solidFill>
                <a:latin typeface="Segoe UI"/>
              </a:rPr>
              <a:t>Point forecasts without prediction intervals mislead decision-makers. Planning must accommodate the calibrated 80% and 95% fan envelopes.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REGIONAL POLICY DYNAMICS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The Regional Displacement Paradox: Downtown Collapse vs. Countywide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10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583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sk93_regional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400800" cy="3200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463040"/>
            <a:ext cx="39620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645920"/>
            <a:ext cx="34134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THE DISPLACEMENT REALITY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Downtown Share Collapsed: </a:t>
            </a:r>
            <a:r>
              <a:rPr sz="919">
                <a:solidFill>
                  <a:srgbClr val="1D1F26"/>
                </a:solidFill>
                <a:latin typeface="Segoe UI"/>
              </a:rPr>
              <a:t>Downtown's share of countywide unsheltered homelessness plunged from 37.5% in January 2023 to 14.9% in January 2025.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Countywide Homelessness Hit Record: </a:t>
            </a:r>
            <a:r>
              <a:rPr sz="919">
                <a:solidFill>
                  <a:srgbClr val="1D1F26"/>
                </a:solidFill>
                <a:latin typeface="Segoe UI"/>
              </a:rPr>
              <a:t>Simultaneously, the RTFH Point-in-Time count recorded an all-time countywide peak of 6,110 unsheltered individuals in 2024 (and 5,714 in 2025).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Displacement, Not Elimination: </a:t>
            </a:r>
            <a:r>
              <a:rPr sz="919">
                <a:solidFill>
                  <a:srgbClr val="1D1F26"/>
                </a:solidFill>
                <a:latin typeface="Segoe UI"/>
              </a:rPr>
              <a:t>The Unsafe Camping Ordinance successfully reduced visible encampments in commercial corridors, but individuals were dispersed into riverbeds, freeway rights-of-way, and neighboring jurisdictions (El Cajon, Chula Vista, National City).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A58E4"/>
                </a:solidFill>
                <a:latin typeface="Segoe UI"/>
              </a:rPr>
              <a:t>• Regional Coordination Required: </a:t>
            </a:r>
            <a:r>
              <a:rPr sz="919">
                <a:solidFill>
                  <a:srgbClr val="1D1F26"/>
                </a:solidFill>
                <a:latin typeface="Segoe UI"/>
              </a:rPr>
              <a:t>City-centric enforcement without countywide shelter capacity shifts the burden rather than solving the systemic crisis.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MACRO ECONOMETRICS &amp; GOVERNANCE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Countywide Macro Estimation Model &amp; Mandatory Communication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11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POLICY REGIME OLS CHAMPION MODEL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Constant-Ratio Assumption Rejected: </a:t>
            </a:r>
            <a:r>
              <a:rPr sz="900">
                <a:solidFill>
                  <a:srgbClr val="1D1F26"/>
                </a:solidFill>
                <a:latin typeface="Segoe UI"/>
              </a:rPr>
              <a:t>One-Way ANOVA decisively rejects ratio stability across regimes: F = 66.51, p = 0.0002, eta^2 = 0.9638. A constant-ratio multiplier creates up to +96.2% error!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Econometric Equation: </a:t>
            </a:r>
            <a:r>
              <a:rPr sz="900">
                <a:solidFill>
                  <a:srgbClr val="1D1F26"/>
                </a:solidFill>
                <a:latin typeface="Segoe UI"/>
              </a:rPr>
              <a:t>Y = 4,513.26 + 0.1859 * X + 1,225.04 * D_post
Where X = Downtown monthly count, D_post = 1 under active Camping Ordinance enforcement.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Model Goodness-of-Fit: </a:t>
            </a:r>
            <a:r>
              <a:rPr sz="900">
                <a:solidFill>
                  <a:srgbClr val="1D1F26"/>
                </a:solidFill>
                <a:latin typeface="Segoe UI"/>
              </a:rPr>
              <a:t>R^2 = 0.9638 | Adj R^2 = 0.9493 | LOOCV RMSE = 815.32 | Signed Bias = -0.34%.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Current County Estimate (Dec 2025): </a:t>
            </a:r>
            <a:r>
              <a:rPr sz="900">
                <a:solidFill>
                  <a:srgbClr val="1D1F26"/>
                </a:solidFill>
                <a:latin typeface="Segoe UI"/>
              </a:rPr>
              <a:t>5,900 [95% PI: 3,900 to 8,000 individuals]
Calibrated margin of error is +/- 2,050 individuals (+/- 35%) using exact Student's t distribution (df=5).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53336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478505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DC2626"/>
                </a:solidFill>
                <a:latin typeface="Trebuchet MS"/>
              </a:defRPr>
            </a:pPr>
            <a:r>
              <a:t>THE 4 MANDATORY PUBLIC COMMUNICATION RULES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93E9C"/>
                </a:solidFill>
                <a:latin typeface="Segoe UI"/>
              </a:rPr>
              <a:t>Rule 1: Prohibit Raw Single-Point Precision
</a:t>
            </a:r>
            <a:r>
              <a:rPr sz="900">
                <a:solidFill>
                  <a:srgbClr val="1D1F26"/>
                </a:solidFill>
                <a:latin typeface="Segoe UI"/>
              </a:rPr>
              <a:t>Never publish uncalibrated single figures like '5,921'. False precision misleads the public and damages institutional credibility.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93E9C"/>
                </a:solidFill>
                <a:latin typeface="Segoe UI"/>
              </a:rPr>
              <a:t>Rule 2: Mandate Rounding to Nearest 100
</a:t>
            </a:r>
            <a:r>
              <a:rPr sz="900">
                <a:solidFill>
                  <a:srgbClr val="1D1F26"/>
                </a:solidFill>
                <a:latin typeface="Segoe UI"/>
              </a:rPr>
              <a:t>Always round estimated point totals to the nearest 100 individuals (e.g. mandate '5,900' instead of '5,921').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93E9C"/>
                </a:solidFill>
                <a:latin typeface="Segoe UI"/>
              </a:rPr>
              <a:t>Rule 3: Always Publish Calibrated 95% Interval
</a:t>
            </a:r>
            <a:r>
              <a:rPr sz="900">
                <a:solidFill>
                  <a:srgbClr val="1D1F26"/>
                </a:solidFill>
                <a:latin typeface="Segoe UI"/>
              </a:rPr>
              <a:t>Every headline figure MUST be accompanied by its calibrated Student's t prediction interval: '5,900 [3,900 to 8,000]'.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293E9C"/>
                </a:solidFill>
                <a:latin typeface="Segoe UI"/>
              </a:rPr>
              <a:t>Rule 4: Mandatory Policy Regime Disclosure
</a:t>
            </a:r>
            <a:r>
              <a:rPr sz="900">
                <a:solidFill>
                  <a:srgbClr val="1D1F26"/>
                </a:solidFill>
                <a:latin typeface="Segoe UI"/>
              </a:rPr>
              <a:t>Public statements must explicitly disclose that the +1,225 adjustment accounts for displacement following the July 2023 Camping Ordinance.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STRATEGIC RECOMMENDATIONS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Municipal Policy Action Roadmap: 30-Day, 1-Year, and 3-Year Horizons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12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34564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63040"/>
            <a:ext cx="3456432" cy="91440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45920"/>
            <a:ext cx="3090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A58E4"/>
                </a:solidFill>
                <a:latin typeface="Trebuchet MS"/>
              </a:defRPr>
            </a:pPr>
            <a:r>
              <a:t>IMMEDIATE ACTION (30–90 DAYS)</a:t>
            </a:r>
          </a:p>
          <a:p>
            <a:pPr>
              <a:spcAft>
                <a:spcPts val="10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High-Frequency Outreach &amp; Tool Deployment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Mobile Sanitation: </a:t>
            </a:r>
            <a:r>
              <a:rPr sz="880">
                <a:solidFill>
                  <a:srgbClr val="647491"/>
                </a:solidFill>
                <a:latin typeface="Segoe UI"/>
              </a:rPr>
              <a:t>Deploy intensive hygiene and mobile restrooms directly to the top 10 persistent hotspot blocks (led by 16th &amp; Imperial).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Dashboard Deployment: </a:t>
            </a:r>
            <a:r>
              <a:rPr sz="880">
                <a:solidFill>
                  <a:srgbClr val="647491"/>
                </a:solidFill>
                <a:latin typeface="Segoe UI"/>
              </a:rPr>
              <a:t>Provide City Council and County Supervisors with live dashboard access for real-time surveillance.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Target Metric: </a:t>
            </a:r>
            <a:r>
              <a:rPr sz="880">
                <a:solidFill>
                  <a:srgbClr val="647491"/>
                </a:solidFill>
                <a:latin typeface="Segoe UI"/>
              </a:rPr>
              <a:t>Zero unsheltered growth on top 5 hotspot blocks.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Lead: </a:t>
            </a:r>
            <a:r>
              <a:rPr sz="880">
                <a:solidFill>
                  <a:srgbClr val="647491"/>
                </a:solidFill>
                <a:latin typeface="Segoe UI"/>
              </a:rPr>
              <a:t>City Homelessness Strategies &amp; DSDP.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63040"/>
            <a:ext cx="34564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463040"/>
            <a:ext cx="345643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645920"/>
            <a:ext cx="3090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  <a:latin typeface="Trebuchet MS"/>
              </a:defRPr>
            </a:pPr>
            <a:r>
              <a:t>MEDIUM-TERM (6–12 MONTHS)</a:t>
            </a:r>
          </a:p>
          <a:p>
            <a:pPr>
              <a:spcAft>
                <a:spcPts val="10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Safe Sleeping &amp; Regional Containment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Scale Safe Sleeping: </a:t>
            </a:r>
            <a:r>
              <a:rPr sz="880">
                <a:solidFill>
                  <a:srgbClr val="647491"/>
                </a:solidFill>
                <a:latin typeface="Segoe UI"/>
              </a:rPr>
              <a:t>Expand Safe Sleeping Sites by 800 beds to capture the -24% optimistic scenario (~670 individuals).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Regional Taskforce: </a:t>
            </a:r>
            <a:r>
              <a:rPr sz="880">
                <a:solidFill>
                  <a:srgbClr val="647491"/>
                </a:solidFill>
                <a:latin typeface="Segoe UI"/>
              </a:rPr>
              <a:t>Establish joint intervention protocol with East &amp; South County to intercept displaced encampments.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Target Metric: </a:t>
            </a:r>
            <a:r>
              <a:rPr sz="880">
                <a:solidFill>
                  <a:srgbClr val="647491"/>
                </a:solidFill>
                <a:latin typeface="Segoe UI"/>
              </a:rPr>
              <a:t>Sub-700 downtown count sustained 6+ months.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Lead: </a:t>
            </a:r>
            <a:r>
              <a:rPr sz="880">
                <a:solidFill>
                  <a:srgbClr val="647491"/>
                </a:solidFill>
                <a:latin typeface="Segoe UI"/>
              </a:rPr>
              <a:t>City of San Diego, RTFH, Caltrans.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463040"/>
            <a:ext cx="3456432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463040"/>
            <a:ext cx="3456432" cy="9144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645920"/>
            <a:ext cx="3090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293E9C"/>
                </a:solidFill>
                <a:latin typeface="Trebuchet MS"/>
              </a:defRPr>
            </a:pPr>
            <a:r>
              <a:t>LONG-TERM (1–3 YEARS)</a:t>
            </a:r>
          </a:p>
          <a:p>
            <a:pPr>
              <a:spcAft>
                <a:spcPts val="1000"/>
              </a:spcAft>
              <a:defRPr sz="900" b="1">
                <a:solidFill>
                  <a:srgbClr val="647491"/>
                </a:solidFill>
                <a:latin typeface="Segoe UI"/>
              </a:defRPr>
            </a:pPr>
            <a:r>
              <a:t>System Integration &amp; Housing Exits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Regional HMIS 2.0: </a:t>
            </a:r>
            <a:r>
              <a:rPr sz="880">
                <a:solidFill>
                  <a:srgbClr val="647491"/>
                </a:solidFill>
                <a:latin typeface="Segoe UI"/>
              </a:rPr>
              <a:t>Deploy integrated bed reservation system with real-time shelter vacancy tracking across all regional providers.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Permanent Housing: </a:t>
            </a:r>
            <a:r>
              <a:rPr sz="880">
                <a:solidFill>
                  <a:srgbClr val="647491"/>
                </a:solidFill>
                <a:latin typeface="Segoe UI"/>
              </a:rPr>
              <a:t>Fund 1,500 permanent supportive housing units with tenancy retention services.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Target Metric: </a:t>
            </a:r>
            <a:r>
              <a:rPr sz="880">
                <a:solidFill>
                  <a:srgbClr val="647491"/>
                </a:solidFill>
                <a:latin typeface="Segoe UI"/>
              </a:rPr>
              <a:t>25%+ reduction in countywide unsheltered PIT.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D1F26"/>
                </a:solidFill>
                <a:latin typeface="Segoe UI"/>
              </a:rPr>
              <a:t>• Lead: </a:t>
            </a:r>
            <a:r>
              <a:rPr sz="880">
                <a:solidFill>
                  <a:srgbClr val="647491"/>
                </a:solidFill>
                <a:latin typeface="Segoe UI"/>
              </a:rPr>
              <a:t>County Health &amp; Human Services, RTFH.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OPERATIONAL DECISION TOOL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Interactive Decision-Support System: The Streamlit Executive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13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68580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4592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THE 6 SPECIALIZED DASHBOARD MODULES (TASK 9.1)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Tab 1: Historical Trends View: </a:t>
            </a:r>
            <a:r>
              <a:rPr sz="880">
                <a:solidFill>
                  <a:srgbClr val="1D1F26"/>
                </a:solidFill>
                <a:latin typeface="Segoe UI"/>
              </a:rPr>
              <a:t>Longitudinal multi-year time series (2017–2025), dynamic multiplier regime markers, macro policy epoch shading, and component toggles (individuals, tents, vehicles).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Tab 2: 12-Month Forward Forecast: </a:t>
            </a:r>
            <a:r>
              <a:rPr sz="880">
                <a:solidFill>
                  <a:srgbClr val="1D1F26"/>
                </a:solidFill>
                <a:latin typeface="Segoe UI"/>
              </a:rPr>
              <a:t>Prospective 2026 projections, model selectors (XGBoost champion, Holt-Winters, SARIMA, Prophet), shaded 80%/95% prediction fans, and scenario stress testing (-24% optimistic, +26% pessimistic).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Tab 3: Hotspot Surveillance Map: </a:t>
            </a:r>
            <a:r>
              <a:rPr sz="880">
                <a:solidFill>
                  <a:srgbClr val="1D1F26"/>
                </a:solidFill>
                <a:latin typeface="Segoe UI"/>
              </a:rPr>
              <a:t>Folium interactive choropleth, 12 count dates selector, balanced 261 vs 382 footprint toggle, Getis-Ord Gi* classifications (90%, 95%, 99%), and centroid migration vector.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Tab 4: Neighborhood Decomposition: </a:t>
            </a:r>
            <a:r>
              <a:rPr sz="880">
                <a:solidFill>
                  <a:srgbClr val="1D1F26"/>
                </a:solidFill>
                <a:latin typeface="Segoe UI"/>
              </a:rPr>
              <a:t>4-pane STL decomposition (Trend, Seasonality, Residuals) and Kruskal-Wallis non-parametric significance displays.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Tab 5: County Estimation Calculator: </a:t>
            </a:r>
            <a:r>
              <a:rPr sz="880">
                <a:solidFill>
                  <a:srgbClr val="1D1F26"/>
                </a:solidFill>
                <a:latin typeface="Segoe UI"/>
              </a:rPr>
              <a:t>Interactive Policy Regime OLS calculator strictly enforcing The 4 Public Communication Rules with Student's t prediction intervals.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Tab 6: Methodology &amp; Governance: </a:t>
            </a:r>
            <a:r>
              <a:rPr sz="880">
                <a:solidFill>
                  <a:srgbClr val="1D1F26"/>
                </a:solidFill>
                <a:latin typeface="Segoe UI"/>
              </a:rPr>
              <a:t>Comprehensive documentation of 4 multiplier schedules, 2022 footprint expansion (+121 blocks), and root causes for historical missing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463040"/>
            <a:ext cx="368777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645920"/>
            <a:ext cx="31391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293E9C"/>
                </a:solidFill>
                <a:latin typeface="Trebuchet MS"/>
              </a:defRPr>
            </a:pPr>
            <a:r>
              <a:t>DEPLOYMENT &amp; ACCESS INFO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Local Live URL: </a:t>
            </a:r>
            <a:r>
              <a:rPr sz="900">
                <a:solidFill>
                  <a:srgbClr val="1D1F26"/>
                </a:solidFill>
                <a:latin typeface="Segoe UI"/>
              </a:rPr>
              <a:t>http://localhost:8501 (Fast sub-2s response time)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Cloud Production URL: </a:t>
            </a:r>
            <a:r>
              <a:rPr sz="900">
                <a:solidFill>
                  <a:srgbClr val="1D1F26"/>
                </a:solidFill>
                <a:latin typeface="Segoe UI"/>
              </a:rPr>
              <a:t>https://downtown-sd-homelessness.streamlit.app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Automated Quality: </a:t>
            </a:r>
            <a:r>
              <a:rPr sz="900">
                <a:solidFill>
                  <a:srgbClr val="1D1F26"/>
                </a:solidFill>
                <a:latin typeface="Segoe UI"/>
              </a:rPr>
              <a:t>10 / 10 pytest unit tests passing with zero regressions.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Data Pipeline SLA: </a:t>
            </a:r>
            <a:r>
              <a:rPr sz="900">
                <a:solidFill>
                  <a:srgbClr val="1D1F26"/>
                </a:solidFill>
                <a:latin typeface="Segoe UI"/>
              </a:rPr>
              <a:t>@st.cache_data architecture provides microsecond cached lookups across all 6 tabs.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3A58E4"/>
                </a:solidFill>
                <a:latin typeface="Segoe UI"/>
              </a:rPr>
              <a:t>• Target Users: </a:t>
            </a:r>
            <a:r>
              <a:rPr sz="900">
                <a:solidFill>
                  <a:srgbClr val="1D1F26"/>
                </a:solidFill>
                <a:latin typeface="Segoe UI"/>
              </a:rPr>
              <a:t>City Council policy analysts, RTFH outreach coordinators, and DSDP operations directors.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94415" y="0"/>
            <a:ext cx="1097280" cy="749808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Trebuchet MS"/>
              </a:defRPr>
            </a:pPr>
            <a: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"/>
            <a:ext cx="54864" cy="749808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987552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A58E4"/>
                </a:solidFill>
                <a:latin typeface="Segoe UI"/>
              </a:defRPr>
            </a:pPr>
            <a:r>
              <a:t>SYNTHESIS &amp; NEXT STEPS</a:t>
            </a:r>
          </a:p>
          <a:p>
            <a:pPr>
              <a:defRPr sz="2000" b="1">
                <a:solidFill>
                  <a:srgbClr val="293E9C"/>
                </a:solidFill>
                <a:latin typeface="Trebuchet MS"/>
              </a:defRPr>
            </a:pPr>
            <a:r>
              <a:t>Executive Synthesis, Data Governance &amp; Partnership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07008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0972"/>
          </a:xfrm>
          <a:prstGeom prst="rect">
            <a:avLst/>
          </a:prstGeom>
          <a:solidFill>
            <a:srgbClr val="DCE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82512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91"/>
                </a:solidFill>
                <a:latin typeface="Segoe UI"/>
              </a:defRPr>
            </a:pPr>
            <a:r>
              <a:t>Data Science Alliance • Downtown San Diego Homeless Population Analysis • Sources: DSDP Field Counts &amp; RTFH PIT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82512"/>
            <a:ext cx="18589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93E9C"/>
                </a:solidFill>
                <a:latin typeface="Segoe UI"/>
              </a:defRPr>
            </a:pPr>
            <a:r>
              <a:t>Slide 14 of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1072865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463040"/>
            <a:ext cx="109728" cy="1417320"/>
          </a:xfrm>
          <a:prstGeom prst="rect">
            <a:avLst/>
          </a:prstGeom>
          <a:solidFill>
            <a:srgbClr val="293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293E9C"/>
                </a:solidFill>
                <a:latin typeface="Trebuchet MS"/>
              </a:defRPr>
            </a:pPr>
            <a:r>
              <a:t>EVIDENCE-BASED RESOURCE ALLOCATION</a:t>
            </a:r>
          </a:p>
          <a:p>
            <a:pPr>
              <a:spcAft>
                <a:spcPts val="4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Move Beyond Seasonal Budgeting</a:t>
            </a:r>
          </a:p>
          <a:p>
            <a:pPr>
              <a:defRPr sz="880">
                <a:solidFill>
                  <a:srgbClr val="647491"/>
                </a:solidFill>
                <a:latin typeface="Segoe UI"/>
              </a:defRPr>
            </a:pPr>
            <a:r>
              <a:t>Discontinue volatile seasonal budget adjustments. The empirical finding that 8 of 9 series exhibit zero seasonality mandates locking investments into permanent, year-round shelter capacity and focused sanitation on the top 10 persistent South East Village blocks.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17520"/>
            <a:ext cx="1072865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017520"/>
            <a:ext cx="109728" cy="1417320"/>
          </a:xfrm>
          <a:prstGeom prst="rect">
            <a:avLst/>
          </a:prstGeom>
          <a:solidFill>
            <a:srgbClr val="3A5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127248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3A58E4"/>
                </a:solidFill>
                <a:latin typeface="Trebuchet MS"/>
              </a:defRPr>
            </a:pPr>
            <a:r>
              <a:t>REGIONAL ACCOUNTABILITY &amp; SYSTEMS REFORM</a:t>
            </a:r>
          </a:p>
          <a:p>
            <a:pPr>
              <a:spcAft>
                <a:spcPts val="4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Acknowledge the Regional Displacement Reality</a:t>
            </a:r>
          </a:p>
          <a:p>
            <a:pPr>
              <a:defRPr sz="880">
                <a:solidFill>
                  <a:srgbClr val="647491"/>
                </a:solidFill>
                <a:latin typeface="Segoe UI"/>
              </a:defRPr>
            </a:pPr>
            <a:r>
              <a:t>Municipal enforcement in downtown corridors has displaced unsheltered individuals into surrounding municipalities and Caltrans corridors. Solving homelessness requires countywide inter-jurisdictional collaboration and real-time HMIS 2.0 bed allocation.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1072865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572000"/>
            <a:ext cx="109728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81728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59669"/>
                </a:solidFill>
                <a:latin typeface="Trebuchet MS"/>
              </a:defRPr>
            </a:pPr>
            <a:r>
              <a:t>CONTINUOUS DATA GOVERNANCE &amp; MACHINE LEARNING</a:t>
            </a:r>
          </a:p>
          <a:p>
            <a:pPr>
              <a:spcAft>
                <a:spcPts val="400"/>
              </a:spcAft>
              <a:defRPr sz="950" b="1">
                <a:solidFill>
                  <a:srgbClr val="1D1F26"/>
                </a:solidFill>
                <a:latin typeface="Segoe UI"/>
              </a:defRPr>
            </a:pPr>
            <a:r>
              <a:t>Annual Retraining &amp; Multi-Source Expansion</a:t>
            </a:r>
          </a:p>
          <a:p>
            <a:pPr>
              <a:defRPr sz="880">
                <a:solidFill>
                  <a:srgbClr val="647491"/>
                </a:solidFill>
                <a:latin typeface="Segoe UI"/>
              </a:defRPr>
            </a:pPr>
            <a:r>
              <a:t>Retrain the Policy Regime OLS model annually upon RTFH January PIT release using the calibrated Student's t distribution. Transition to Assignment 10 to integrate NOAA weather, 311 service requests, and shelter census signals into an early warning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