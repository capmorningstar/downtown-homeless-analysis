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371600"/>
            <a:ext cx="4389120" cy="384048"/>
          </a:xfrm>
          <a:prstGeom prst="roundRect">
            <a:avLst/>
          </a:prstGeom>
          <a:solidFill>
            <a:srgbClr val="D3DFFF"/>
          </a:solidFill>
          <a:ln w="12700">
            <a:solidFill>
              <a:srgbClr val="9A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3E9C"/>
                </a:solidFill>
                <a:latin typeface="Segoe UI"/>
              </a:defRPr>
            </a:pPr>
            <a:r>
              <a:t>DATA SCIENCE ALLIANCE • EXECUTIVE SYNTHESIS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659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93E9C"/>
                </a:solidFill>
                <a:latin typeface="Trebuchet MS"/>
              </a:defRPr>
            </a:pPr>
            <a:r>
              <a:t>Downtown Homelessness:</a:t>
            </a:r>
            <a:br/>
            <a:r>
              <a:t>Executive Strategic Roadmap (2017–2026)</a:t>
            </a:r>
          </a:p>
          <a:p>
            <a:pPr>
              <a:defRPr sz="1500" b="1">
                <a:solidFill>
                  <a:srgbClr val="3A58E4"/>
                </a:solidFill>
                <a:latin typeface="Segoe UI"/>
              </a:defRPr>
            </a:pPr>
            <a:r>
              <a:t>Econometrics, Spatial Dynamics, ML Forecasting &amp; Regional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4206240"/>
            <a:ext cx="9144000" cy="13716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3A58E4"/>
                </a:solidFill>
                <a:latin typeface="Segoe UI"/>
              </a:defRPr>
            </a:pPr>
            <a:r>
              <a:t>PARTNERSHIP &amp; AUTHOR</a:t>
            </a:r>
          </a:p>
          <a:p>
            <a:pPr>
              <a:defRPr sz="1100">
                <a:solidFill>
                  <a:srgbClr val="1D1F26"/>
                </a:solidFill>
                <a:latin typeface="Segoe UI"/>
              </a:defRPr>
            </a:pPr>
            <a:r>
              <a:t>DSA, DSDP, RTFH</a:t>
            </a:r>
            <a:br/>
            <a:r>
              <a:t>Lead: K.S. Lwin | Proj Lead: A. Mancebo Jr.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3891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3A58E4"/>
                </a:solidFill>
                <a:latin typeface="Segoe UI"/>
              </a:defRPr>
            </a:pPr>
            <a:r>
              <a:t>DATA FOUNDATION</a:t>
            </a:r>
          </a:p>
          <a:p>
            <a:pPr>
              <a:defRPr sz="1100">
                <a:solidFill>
                  <a:srgbClr val="1D1F26"/>
                </a:solidFill>
                <a:latin typeface="Segoe UI"/>
              </a:defRPr>
            </a:pPr>
            <a:r>
              <a:t>108 months of counts (2017-2025)</a:t>
            </a:r>
            <a:br/>
            <a:r>
              <a:t>Regional PIT censuses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3891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3A58E4"/>
                </a:solidFill>
                <a:latin typeface="Segoe UI"/>
              </a:defRPr>
            </a:pPr>
            <a:r>
              <a:t>ANALYTICAL FRAMEWORK</a:t>
            </a:r>
          </a:p>
          <a:p>
            <a:pPr>
              <a:defRPr sz="1100">
                <a:solidFill>
                  <a:srgbClr val="1D1F26"/>
                </a:solidFill>
                <a:latin typeface="Segoe UI"/>
              </a:defRPr>
            </a:pPr>
            <a:r>
              <a:t>Spatial Gi* • Walk-Forward CV • OLS Regime • 4 Comm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EXECUTIVE FRAMING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Executive KPIs: Peak &amp;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2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25420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25420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27632"/>
            <a:ext cx="21762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DC2626"/>
                </a:solidFill>
                <a:latin typeface="Trebuchet MS"/>
              </a:defRPr>
            </a:pPr>
            <a:r>
              <a:t>2,103</a:t>
            </a:r>
          </a:p>
          <a:p>
            <a:pPr>
              <a:spcAft>
                <a:spcPts val="3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CRISIS PEAK (MAY 2023)</a:t>
            </a:r>
          </a:p>
          <a:p>
            <a:pPr>
              <a:defRPr sz="1050">
                <a:solidFill>
                  <a:srgbClr val="647491"/>
                </a:solidFill>
                <a:latin typeface="Segoe UI"/>
              </a:defRPr>
            </a:pPr>
            <a:r>
              <a:t>Highest count on record. Capped a 3-year surge.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463040"/>
            <a:ext cx="25420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463040"/>
            <a:ext cx="254203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627632"/>
            <a:ext cx="21762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59669"/>
                </a:solidFill>
                <a:latin typeface="Trebuchet MS"/>
              </a:defRPr>
            </a:pPr>
            <a:r>
              <a:t>851</a:t>
            </a:r>
          </a:p>
          <a:p>
            <a:pPr>
              <a:spcAft>
                <a:spcPts val="3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RECENT COUNT (JAN 2025)</a:t>
            </a:r>
          </a:p>
          <a:p>
            <a:pPr>
              <a:defRPr sz="1050">
                <a:solidFill>
                  <a:srgbClr val="647491"/>
                </a:solidFill>
                <a:latin typeface="Segoe UI"/>
              </a:defRPr>
            </a:pPr>
            <a:r>
              <a:t>Down 59% from peak. Dec 2025 hit 985.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63040"/>
            <a:ext cx="25420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463040"/>
            <a:ext cx="2542032" cy="73152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627632"/>
            <a:ext cx="21762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93E9C"/>
                </a:solidFill>
                <a:latin typeface="Trebuchet MS"/>
              </a:defRPr>
            </a:pPr>
            <a:r>
              <a:t>54.0%</a:t>
            </a:r>
          </a:p>
          <a:p>
            <a:pPr>
              <a:spcAft>
                <a:spcPts val="3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EAST VILLAGE CONCENTRATION</a:t>
            </a:r>
          </a:p>
          <a:p>
            <a:pPr>
              <a:defRPr sz="1050">
                <a:solidFill>
                  <a:srgbClr val="647491"/>
                </a:solidFill>
                <a:latin typeface="Segoe UI"/>
              </a:defRPr>
            </a:pPr>
            <a:r>
              <a:t>Core driver of downtown population.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463040"/>
            <a:ext cx="25420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463040"/>
            <a:ext cx="2542032" cy="73152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627632"/>
            <a:ext cx="21762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3A58E4"/>
                </a:solidFill>
                <a:latin typeface="Trebuchet MS"/>
              </a:defRPr>
            </a:pPr>
            <a:r>
              <a:t>120 m</a:t>
            </a:r>
          </a:p>
          <a:p>
            <a:pPr>
              <a:spcAft>
                <a:spcPts val="3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HOTSPOT MIGRATION VECTOR</a:t>
            </a:r>
          </a:p>
          <a:p>
            <a:pPr>
              <a:defRPr sz="1050">
                <a:solidFill>
                  <a:srgbClr val="647491"/>
                </a:solidFill>
                <a:latin typeface="Segoe UI"/>
              </a:defRPr>
            </a:pPr>
            <a:r>
              <a:t>Centroid shifted 120m south toward South East Village.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10728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4048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93E9C"/>
                </a:solidFill>
                <a:latin typeface="Trebuchet MS"/>
              </a:defRPr>
            </a:pPr>
            <a:r>
              <a:t>THE REALITY: DOWNTOWN DROPS VS REGIONAL SHIFTS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Three Phases: </a:t>
            </a:r>
            <a:r>
              <a:rPr sz="1150">
                <a:solidFill>
                  <a:srgbClr val="1D1F26"/>
                </a:solidFill>
                <a:latin typeface="Segoe UI"/>
              </a:rPr>
              <a:t>Pre-COVID drop, massive 2021-2023 surge (peak 2,103), then post-enforcement contraction (851 in Jan 2025).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No Seasonality: </a:t>
            </a:r>
            <a:r>
              <a:rPr sz="1150">
                <a:solidFill>
                  <a:srgbClr val="1D1F26"/>
                </a:solidFill>
                <a:latin typeface="Segoe UI"/>
              </a:rPr>
              <a:t>Weather doesn't drive numbers (p=0.995). Seasonal budgets are a mismatch for year-round needs.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Map Changes: </a:t>
            </a:r>
            <a:r>
              <a:rPr sz="1150">
                <a:solidFill>
                  <a:srgbClr val="1D1F26"/>
                </a:solidFill>
                <a:latin typeface="Segoe UI"/>
              </a:rPr>
              <a:t>121 blocks added in 2022. Correcting for this shows a real, but smaller, +71% surge in the core.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Regional Shift: </a:t>
            </a:r>
            <a:r>
              <a:rPr sz="1150">
                <a:solidFill>
                  <a:srgbClr val="1D1F26"/>
                </a:solidFill>
                <a:latin typeface="Segoe UI"/>
              </a:rPr>
              <a:t>Downtown share fell to 15%, while countywide hit a record 6,110. The crisis moved, it didn't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LONGITUDINAL DYNAMICS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9-Year Trajectory: Three Policy Epochs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3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583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sk93_trajectory_9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6400800" cy="3200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463040"/>
            <a:ext cx="396209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572768"/>
            <a:ext cx="35963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A58E4"/>
                </a:solidFill>
                <a:latin typeface="Trebuchet MS"/>
              </a:defRPr>
            </a:pPr>
            <a:r>
              <a:t>Epoch 1: Contraction (2017–2020)</a:t>
            </a:r>
          </a:p>
          <a:p>
            <a:pPr>
              <a:spcAft>
                <a:spcPts val="2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Low of 529 in Mar 2020 (−38%)</a:t>
            </a:r>
          </a:p>
          <a:p>
            <a:pPr>
              <a:defRPr sz="1050">
                <a:solidFill>
                  <a:srgbClr val="647491"/>
                </a:solidFill>
                <a:latin typeface="Segoe UI"/>
              </a:defRPr>
            </a:pPr>
            <a:r>
              <a:t>Pre-COVID drop. Baseline interventions worked.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017520"/>
            <a:ext cx="396209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127248"/>
            <a:ext cx="35963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C2626"/>
                </a:solidFill>
                <a:latin typeface="Trebuchet MS"/>
              </a:defRPr>
            </a:pPr>
            <a:r>
              <a:t>Epoch 2: Crisis Surge (2021–2023)</a:t>
            </a:r>
          </a:p>
          <a:p>
            <a:pPr>
              <a:spcAft>
                <a:spcPts val="2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May 2023 Peak of 2,103 (+297%)</a:t>
            </a:r>
          </a:p>
          <a:p>
            <a:pPr>
              <a:defRPr sz="1050">
                <a:solidFill>
                  <a:srgbClr val="647491"/>
                </a:solidFill>
                <a:latin typeface="Segoe UI"/>
              </a:defRPr>
            </a:pPr>
            <a:r>
              <a:t>Driven by shelter de-densification and housing vulnerability.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572000"/>
            <a:ext cx="396209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681728"/>
            <a:ext cx="35963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Trebuchet MS"/>
              </a:defRPr>
            </a:pPr>
            <a:r>
              <a:t>Epoch 3: Enforcement (2024–2025)</a:t>
            </a:r>
          </a:p>
          <a:p>
            <a:pPr>
              <a:spcAft>
                <a:spcPts val="2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Jan 2025 Count of 851 (−59%)</a:t>
            </a:r>
          </a:p>
          <a:p>
            <a:pPr>
              <a:defRPr sz="1050">
                <a:solidFill>
                  <a:srgbClr val="647491"/>
                </a:solidFill>
                <a:latin typeface="Segoe UI"/>
              </a:defRPr>
            </a:pPr>
            <a:r>
              <a:t>Sharp drop post-Camping Ordinance. Counts stabilized ~860-880.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ECONOMETRIC SEASONALITY PROOF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Seasonality Myth: Weather Doesn't Drive Homelessness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4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217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Kruskal-Wallis Tests (df=11)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2148840"/>
          <a:ext cx="5852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640080"/>
                <a:gridCol w="640080"/>
                <a:gridCol w="1463040"/>
              </a:tblGrid>
              <a:tr h="361188"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Geographic Series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Kruskal-Wallis H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KW p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ANOVA p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Overall — Reported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2.66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No Seasonality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Overall — Fixed Core Six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9.00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0.622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0.670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No Seasonality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East Village (Epicenter)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14.16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No Seasonality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City Center (Core)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4.86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0.938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0.913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No Seasonality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Gaslamp Quarter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No Seasonality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Columbia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8.76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0.644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0.473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No Seasonality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Cortez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12.73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Marina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19.88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0.047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0.162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1188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Outside Perimeter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0.440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No Seasonality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223760" y="1463040"/>
            <a:ext cx="42364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645920"/>
            <a:ext cx="3687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WHY THIS MATTERS FOR MUNICIPAL BUDGETING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Weather Fallacy: </a:t>
            </a:r>
            <a:r>
              <a:rPr sz="1120">
                <a:solidFill>
                  <a:srgbClr val="1D1F26"/>
                </a:solidFill>
                <a:latin typeface="Segoe UI"/>
              </a:rPr>
              <a:t>Calendar months explain zero variation (p=0.995). Seasonal planning is flawed.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Macro Drivers: </a:t>
            </a:r>
            <a:r>
              <a:rPr sz="1120">
                <a:solidFill>
                  <a:srgbClr val="1D1F26"/>
                </a:solidFill>
                <a:latin typeface="Segoe UI"/>
              </a:rPr>
              <a:t>Shifts are driven by capacity, policy, and housing dynamics—not weather.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Fund Year-Round: </a:t>
            </a:r>
            <a:r>
              <a:rPr sz="1120">
                <a:solidFill>
                  <a:srgbClr val="1D1F26"/>
                </a:solidFill>
                <a:latin typeface="Segoe UI"/>
              </a:rPr>
              <a:t>Stop seasonal allocations. Commit to permanent capacity.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Solid Evidence: </a:t>
            </a:r>
            <a:r>
              <a:rPr sz="1120">
                <a:solidFill>
                  <a:srgbClr val="1D1F26"/>
                </a:solidFill>
                <a:latin typeface="Segoe UI"/>
              </a:rPr>
              <a:t>8 of 9 series show strictly non-significant seasonality.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SPATIAL PANEL ACCOUNTING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Map Changes: Disentangling Reality from Map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5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583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sk93_footprint_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6123"/>
            <a:ext cx="6400800" cy="30258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463040"/>
            <a:ext cx="39620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645920"/>
            <a:ext cx="34134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ACCOUNTING FOR THE 121-BLOCK EXPANSION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Administrative Shift: </a:t>
            </a:r>
            <a:r>
              <a:rPr sz="1120">
                <a:solidFill>
                  <a:srgbClr val="1D1F26"/>
                </a:solidFill>
                <a:latin typeface="Segoe UI"/>
              </a:rPr>
              <a:t>121 blocks added in 2022 (Golden Hill, Barrio Logan).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The Wedge Effect: </a:t>
            </a:r>
            <a:r>
              <a:rPr sz="1120">
                <a:solidFill>
                  <a:srgbClr val="1D1F26"/>
                </a:solidFill>
                <a:latin typeface="Segoe UI"/>
              </a:rPr>
              <a:t>Added blocks inflated counts by up to 33% (640 individuals at peak).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True Core Growth: </a:t>
            </a:r>
            <a:r>
              <a:rPr sz="1120">
                <a:solidFill>
                  <a:srgbClr val="1D1F26"/>
                </a:solidFill>
                <a:latin typeface="Segoe UI"/>
              </a:rPr>
              <a:t>Balanced 261-block panel still grew 71% in 2022. Boundaries matter.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Analytical Fix: </a:t>
            </a:r>
            <a:r>
              <a:rPr sz="1120">
                <a:solidFill>
                  <a:srgbClr val="1D1F26"/>
                </a:solidFill>
                <a:latin typeface="Segoe UI"/>
              </a:rPr>
              <a:t>Enforced strict 261-block balance across all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GEOGRAPHIC CONCENTRATION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Concentration: The East Village Epicenter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6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217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Top Hotspots (Getis-Ord Gi*)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2148840"/>
          <a:ext cx="5852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03120"/>
                <a:gridCol w="1371600"/>
                <a:gridCol w="822960"/>
                <a:gridCol w="457200"/>
                <a:gridCol w="548640"/>
              </a:tblGrid>
              <a:tr h="451485"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Block Identifier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Hotspot Dates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 Count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</a:tr>
              <a:tr h="451485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16th St &amp; Imperial 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South East Village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9 / 12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I-5 SB &amp; Imperial Ave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South East Village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8 / 12 dates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1485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I-5 SB Off-Ramp (Map Border)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South East Village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6 / 12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I-5 SB On-Ramp (Map Border)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South East Village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 / 12 dates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1485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17th St &amp; Imperial 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South East Village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 / 12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16th St &amp; J St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South East Village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2 / 12 dates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13.3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1485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17th St &amp; J 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South East Village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2 / 12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223760" y="1463040"/>
            <a:ext cx="42364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645920"/>
            <a:ext cx="3687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THE BUILT-ENVIRONMENT MAGNET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Volume Dominance: </a:t>
            </a:r>
            <a:r>
              <a:rPr sz="1120">
                <a:solidFill>
                  <a:srgbClr val="1D1F26"/>
                </a:solidFill>
                <a:latin typeface="Segoe UI"/>
              </a:rPr>
              <a:t>Drives 54% of downtown homelessness (avg 552 individuals).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Top Hotspots: </a:t>
            </a:r>
            <a:r>
              <a:rPr sz="1120">
                <a:solidFill>
                  <a:srgbClr val="1D1F26"/>
                </a:solidFill>
                <a:latin typeface="Segoe UI"/>
              </a:rPr>
              <a:t>100% of the top 10 persistent hotspots are in South East Village.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Built Magnets: </a:t>
            </a:r>
            <a:r>
              <a:rPr sz="1120">
                <a:solidFill>
                  <a:srgbClr val="1D1F26"/>
                </a:solidFill>
                <a:latin typeface="Segoe UI"/>
              </a:rPr>
              <a:t>Clusters anchor around transit, services, and freeway underpasses.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CLUSTER MIGRATION VECTOR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Hotspot Dynamics: 120m Southward 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7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583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sk93_hotspot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6400800" cy="3200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463040"/>
            <a:ext cx="39620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645920"/>
            <a:ext cx="34134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DRIVERS OF CLUSTER DISPLACEMENT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120m Migration: </a:t>
            </a:r>
            <a:r>
              <a:rPr sz="1120">
                <a:solidFill>
                  <a:srgbClr val="1D1F26"/>
                </a:solidFill>
                <a:latin typeface="Segoe UI"/>
              </a:rPr>
              <a:t>Centroid shifted 120m SSE toward South East Village.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Density Driven: </a:t>
            </a:r>
            <a:r>
              <a:rPr sz="1120">
                <a:solidFill>
                  <a:srgbClr val="1D1F26"/>
                </a:solidFill>
                <a:latin typeface="Segoe UI"/>
              </a:rPr>
              <a:t>Unweighted moved 62m; density and location both pull south.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Enforcement Push: </a:t>
            </a:r>
            <a:r>
              <a:rPr sz="1120">
                <a:solidFill>
                  <a:srgbClr val="1D1F26"/>
                </a:solidFill>
                <a:latin typeface="Segoe UI"/>
              </a:rPr>
              <a:t>Sidewalk clearance in Gaslamp displaced clusters south.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Spatial Shift: </a:t>
            </a:r>
            <a:r>
              <a:rPr sz="1120">
                <a:solidFill>
                  <a:srgbClr val="1D1F26"/>
                </a:solidFill>
                <a:latin typeface="Segoe UI"/>
              </a:rPr>
              <a:t>Reflects macro cluster movements, not individual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PREDICTIVE INTELLIGENCE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Machine Learning: 5-Fold CV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8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400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5-Fold CV Performance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2148840"/>
          <a:ext cx="6035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097280"/>
              </a:tblGrid>
              <a:tr h="601980"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1-Month MAPE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3-Month MAPE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6-Month MAPE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12-Month CV MAPE</a:t>
                      </a:r>
                    </a:p>
                  </a:txBody>
                  <a:tcPr>
                    <a:solidFill>
                      <a:srgbClr val="293E9C"/>
                    </a:solidFill>
                  </a:tcPr>
                </a:tc>
              </a:tr>
              <a:tr h="601980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SARIMA (ACF/PACF Grid)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5.4% ± 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14.3% ± 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24.7% ± 20.9%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39.6% ± 35.5%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Holt-Winters Exp Smooth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13.0% ± 9.2%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17.6% ± 10.4%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25.2% ± 18.2%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38.4% ± 28.5%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601980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XGBoost (Champion)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14.0% ± 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19.9% ± 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26.7% ± 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38.3% ± 26.0%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Naive Seasonal (t−12)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39.5% ± 31.9%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40.1% ± 31.3%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48.5% ± 35.4%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51.7% ± 24.5%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601980">
                <a:tc>
                  <a:txBody>
                    <a:bodyPr wrap="square" lIns="54864" rIns="54864" tIns="54864" bIns="54864"/>
                    <a:lstStyle/>
                    <a:p>
                      <a:pPr algn="l">
                        <a:defRPr sz="1050" b="1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Prophet (Changepoints)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42.9% ± 26.0%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42.7% ± 26.0%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51.3% ± 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54864" bIns="54864"/>
                    <a:lstStyle/>
                    <a:p>
                      <a:pPr algn="ctr">
                        <a:defRPr sz="1050">
                          <a:solidFill>
                            <a:srgbClr val="1D1F26"/>
                          </a:solidFill>
                          <a:latin typeface="Segoe UI"/>
                        </a:defRPr>
                      </a:pPr>
                      <a:r>
                        <a:t>64.2% ± 35.4%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0" y="1463040"/>
            <a:ext cx="414497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645920"/>
            <a:ext cx="35963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CORE FORECASTING TAKEAWAYS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Horizons: </a:t>
            </a:r>
            <a:r>
              <a:rPr sz="1100">
                <a:solidFill>
                  <a:srgbClr val="1D1F26"/>
                </a:solidFill>
                <a:latin typeface="Segoe UI"/>
              </a:rPr>
              <a:t>SARIMA wins short-term (5.4% MAPE). XGBoost ties at 12-months (38.3%).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Champion Model: </a:t>
            </a:r>
            <a:r>
              <a:rPr sz="1100">
                <a:solidFill>
                  <a:srgbClr val="1D1F26"/>
                </a:solidFill>
                <a:latin typeface="Segoe UI"/>
              </a:rPr>
              <a:t>XGBoost chosen for lowest error and strong 2025 hold-out (8.5%).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Baseline Check: </a:t>
            </a:r>
            <a:r>
              <a:rPr sz="1100">
                <a:solidFill>
                  <a:srgbClr val="1D1F26"/>
                </a:solidFill>
                <a:latin typeface="Segoe UI"/>
              </a:rPr>
              <a:t>Naive seasonal performed well in 2025, proving baselines are critical.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Prophet Failure: </a:t>
            </a:r>
            <a:r>
              <a:rPr sz="1100">
                <a:solidFill>
                  <a:srgbClr val="1D1F26"/>
                </a:solidFill>
                <a:latin typeface="Segoe UI"/>
              </a:rPr>
              <a:t>Prophet failed (64.2% error) as it missed the post-peak drop.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PROSPECTIVE FORECASTING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2026 Outlook: Stress-Testing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9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583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sk93_forecast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6400800" cy="3200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463040"/>
            <a:ext cx="39620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645920"/>
            <a:ext cx="34134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PROSPECTIVE 2026 SCENARIOS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Baseline: </a:t>
            </a:r>
            <a:r>
              <a:rPr sz="1120">
                <a:solidFill>
                  <a:srgbClr val="1D1F26"/>
                </a:solidFill>
                <a:latin typeface="Segoe UI"/>
              </a:rPr>
              <a:t>Expected to remain range-bound at 816–896 individuals.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Stress-Tests: </a:t>
            </a:r>
            <a:r>
              <a:rPr sz="1120">
                <a:solidFill>
                  <a:srgbClr val="1D1F26"/>
                </a:solidFill>
                <a:latin typeface="Segoe UI"/>
              </a:rPr>
              <a:t>Fixed scenario paths, not causal policy models.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Optimistic: </a:t>
            </a:r>
            <a:r>
              <a:rPr sz="1120">
                <a:solidFill>
                  <a:srgbClr val="1D1F26"/>
                </a:solidFill>
                <a:latin typeface="Segoe UI"/>
              </a:rPr>
              <a:t>~675 individuals by Dec 2026 (favorable dynamics).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Pessimistic: </a:t>
            </a:r>
            <a:r>
              <a:rPr sz="1120">
                <a:solidFill>
                  <a:srgbClr val="1D1F26"/>
                </a:solidFill>
                <a:latin typeface="Segoe UI"/>
              </a:rPr>
              <a:t>~1,123 individuals by Dec 2026 (economic constraints).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Range Planning: </a:t>
            </a:r>
            <a:r>
              <a:rPr sz="1120">
                <a:solidFill>
                  <a:srgbClr val="1D1F26"/>
                </a:solidFill>
                <a:latin typeface="Segoe UI"/>
              </a:rPr>
              <a:t>Plan using uncertainty bands, not single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REGIONAL POLICY DYNAMICS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Regional Displacement: Downtown Drops vs County Highs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10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583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sk93_regional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6400800" cy="3200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463040"/>
            <a:ext cx="39620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645920"/>
            <a:ext cx="34134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THE DISPLACEMENT REALITY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Share Plunged: </a:t>
            </a:r>
            <a:r>
              <a:rPr sz="1120">
                <a:solidFill>
                  <a:srgbClr val="1D1F26"/>
                </a:solidFill>
                <a:latin typeface="Segoe UI"/>
              </a:rPr>
              <a:t>Downtown's share of county unsheltered fell to 14.9%.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County Record: </a:t>
            </a:r>
            <a:r>
              <a:rPr sz="1120">
                <a:solidFill>
                  <a:srgbClr val="1D1F26"/>
                </a:solidFill>
                <a:latin typeface="Segoe UI"/>
              </a:rPr>
              <a:t>Countywide numbers reached 6,110 (2024) and 5,714 (2025).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Displacement: </a:t>
            </a:r>
            <a:r>
              <a:rPr sz="1120">
                <a:solidFill>
                  <a:srgbClr val="1D1F26"/>
                </a:solidFill>
                <a:latin typeface="Segoe UI"/>
              </a:rPr>
              <a:t>Downtown drops align with regional spikes. The crisis moved.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A58E4"/>
                </a:solidFill>
                <a:latin typeface="Segoe UI"/>
              </a:rPr>
              <a:t>• Data Limits: </a:t>
            </a:r>
            <a:r>
              <a:rPr sz="1120">
                <a:solidFill>
                  <a:srgbClr val="1D1F26"/>
                </a:solidFill>
                <a:latin typeface="Segoe UI"/>
              </a:rPr>
              <a:t>Reflects macro divergence, individual tracking is unavailable.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MACRO ECONOMETRICS &amp; GOVERNANCE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Macro Model &amp; 4 Communication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11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POLICY REGIME OLS CHAMPION MODEL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Ratio Rejected: </a:t>
            </a:r>
            <a:r>
              <a:rPr sz="1100">
                <a:solidFill>
                  <a:srgbClr val="1D1F26"/>
                </a:solidFill>
                <a:latin typeface="Segoe UI"/>
              </a:rPr>
              <a:t>Fixed ratios fail across policy regimes (ANOVA p=0.0002).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Model Equation: </a:t>
            </a:r>
            <a:r>
              <a:rPr sz="1100">
                <a:solidFill>
                  <a:srgbClr val="1D1F26"/>
                </a:solidFill>
                <a:latin typeface="Segoe UI"/>
              </a:rPr>
              <a:t>Y = 4,513 + 0.186X + 1,225*D_post (Accounts for 2024/25).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Diagnostics: </a:t>
            </a:r>
            <a:r>
              <a:rPr sz="1100">
                <a:solidFill>
                  <a:srgbClr val="1D1F26"/>
                </a:solidFill>
                <a:latin typeface="Segoe UI"/>
              </a:rPr>
              <a:t>R²=0.50. Slope and D_post are not strictly significant at 5%.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Current Estimate: </a:t>
            </a:r>
            <a:r>
              <a:rPr sz="1100">
                <a:solidFill>
                  <a:srgbClr val="1D1F26"/>
                </a:solidFill>
                <a:latin typeface="Segoe UI"/>
              </a:rPr>
              <a:t>5,900 [95% PI: 3,900 to 8,000]. Margin of error is ±35%.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53336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7850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DC2626"/>
                </a:solidFill>
                <a:latin typeface="Trebuchet MS"/>
              </a:defRPr>
            </a:pPr>
            <a:r>
              <a:t>THE 4 MANDATORY PUBLIC COMMUNICATION RULES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93E9C"/>
                </a:solidFill>
                <a:latin typeface="Segoe UI"/>
              </a:rPr>
              <a:t>Rule 1: No False Precision
</a:t>
            </a:r>
            <a:r>
              <a:rPr sz="1100">
                <a:solidFill>
                  <a:srgbClr val="1D1F26"/>
                </a:solidFill>
                <a:latin typeface="Segoe UI"/>
              </a:rPr>
              <a:t>Stop using raw single points (e.g., '5,921'). It damages credibility.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93E9C"/>
                </a:solidFill>
                <a:latin typeface="Segoe UI"/>
              </a:rPr>
              <a:t>Rule 2: Round to 100
</a:t>
            </a:r>
            <a:r>
              <a:rPr sz="1100">
                <a:solidFill>
                  <a:srgbClr val="1D1F26"/>
                </a:solidFill>
                <a:latin typeface="Segoe UI"/>
              </a:rPr>
              <a:t>Always round estimates to the nearest hundred.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93E9C"/>
                </a:solidFill>
                <a:latin typeface="Segoe UI"/>
              </a:rPr>
              <a:t>Rule 3: Show 95% Interval
</a:t>
            </a:r>
            <a:r>
              <a:rPr sz="1100">
                <a:solidFill>
                  <a:srgbClr val="1D1F26"/>
                </a:solidFill>
                <a:latin typeface="Segoe UI"/>
              </a:rPr>
              <a:t>Mandate prediction ranges: '5,900 [3,900 to 8,000]'.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93E9C"/>
                </a:solidFill>
                <a:latin typeface="Segoe UI"/>
              </a:rPr>
              <a:t>Rule 4: Disclose Regimes
</a:t>
            </a:r>
            <a:r>
              <a:rPr sz="1100">
                <a:solidFill>
                  <a:srgbClr val="1D1F26"/>
                </a:solidFill>
                <a:latin typeface="Segoe UI"/>
              </a:rPr>
              <a:t>Explicitly state assumptions (e.g., assumes post-2023 enforcement holds).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STRATEGIC RECOMMENDATIONS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Policy Roadmap: Recommendations (R1–R8)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12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4564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3456432" cy="91440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A58E4"/>
                </a:solidFill>
                <a:latin typeface="Trebuchet MS"/>
              </a:defRPr>
            </a:pPr>
            <a:r>
              <a:t>IMMEDIATE (0–3 MONTHS)</a:t>
            </a:r>
          </a:p>
          <a:p>
            <a:pPr>
              <a:spcAft>
                <a:spcPts val="1200"/>
              </a:spcAft>
              <a:defRPr sz="1100" b="1">
                <a:solidFill>
                  <a:srgbClr val="647491"/>
                </a:solidFill>
                <a:latin typeface="Segoe UI"/>
              </a:defRPr>
            </a:pPr>
            <a:r>
              <a:t>Outreach &amp; Governance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R1. Hotspots: </a:t>
            </a:r>
            <a:r>
              <a:rPr sz="1080">
                <a:solidFill>
                  <a:srgbClr val="647491"/>
                </a:solidFill>
                <a:latin typeface="Segoe UI"/>
              </a:rPr>
              <a:t>Target 16th-17th &amp; Imperial for rapid outreach.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R2. Range Planning: </a:t>
            </a:r>
            <a:r>
              <a:rPr sz="1080">
                <a:solidFill>
                  <a:srgbClr val="647491"/>
                </a:solidFill>
                <a:latin typeface="Segoe UI"/>
              </a:rPr>
              <a:t>Enforce Rules 1-4 for all public numbers.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R3. Boundary Clarity: </a:t>
            </a:r>
            <a:r>
              <a:rPr sz="1080">
                <a:solidFill>
                  <a:srgbClr val="647491"/>
                </a:solidFill>
                <a:latin typeface="Segoe UI"/>
              </a:rPr>
              <a:t>Disclose 261 vs 382-block footprint metrics.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Leaders: </a:t>
            </a:r>
            <a:r>
              <a:rPr sz="1080">
                <a:solidFill>
                  <a:srgbClr val="647491"/>
                </a:solidFill>
                <a:latin typeface="Segoe UI"/>
              </a:rPr>
              <a:t>City Strategies, DSDP.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63040"/>
            <a:ext cx="34564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463040"/>
            <a:ext cx="345643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4592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Trebuchet MS"/>
              </a:defRPr>
            </a:pPr>
            <a:r>
              <a:t>MEDIUM (6–12 MONTHS)</a:t>
            </a:r>
          </a:p>
          <a:p>
            <a:pPr>
              <a:spcAft>
                <a:spcPts val="1200"/>
              </a:spcAft>
              <a:defRPr sz="1100" b="1">
                <a:solidFill>
                  <a:srgbClr val="647491"/>
                </a:solidFill>
                <a:latin typeface="Segoe UI"/>
              </a:defRPr>
            </a:pPr>
            <a:r>
              <a:t>Data &amp; Validation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R4. Component Data: </a:t>
            </a:r>
            <a:r>
              <a:rPr sz="1080">
                <a:solidFill>
                  <a:srgbClr val="647491"/>
                </a:solidFill>
                <a:latin typeface="Segoe UI"/>
              </a:rPr>
              <a:t>Mandate full tent/vehicle component reporting.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R5. Displacement: </a:t>
            </a:r>
            <a:r>
              <a:rPr sz="1080">
                <a:solidFill>
                  <a:srgbClr val="647491"/>
                </a:solidFill>
                <a:latin typeface="Segoe UI"/>
              </a:rPr>
              <a:t>Verify cross-border regional movement.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R6. Retraining: </a:t>
            </a:r>
            <a:r>
              <a:rPr sz="1080">
                <a:solidFill>
                  <a:srgbClr val="647491"/>
                </a:solidFill>
                <a:latin typeface="Segoe UI"/>
              </a:rPr>
              <a:t>Update OLS models with 2026 PIT data.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R7. Shelter Data: </a:t>
            </a:r>
            <a:r>
              <a:rPr sz="1080">
                <a:solidFill>
                  <a:srgbClr val="647491"/>
                </a:solidFill>
                <a:latin typeface="Segoe UI"/>
              </a:rPr>
              <a:t>Integrate real Housing Inventory Count (HIC).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463040"/>
            <a:ext cx="34564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463040"/>
            <a:ext cx="3456432" cy="9144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64592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93E9C"/>
                </a:solidFill>
                <a:latin typeface="Trebuchet MS"/>
              </a:defRPr>
            </a:pPr>
            <a:r>
              <a:t>LONG-TERM (1–3 YEARS)</a:t>
            </a:r>
          </a:p>
          <a:p>
            <a:pPr>
              <a:spcAft>
                <a:spcPts val="1200"/>
              </a:spcAft>
              <a:defRPr sz="1100" b="1">
                <a:solidFill>
                  <a:srgbClr val="647491"/>
                </a:solidFill>
                <a:latin typeface="Segoe UI"/>
              </a:defRPr>
            </a:pPr>
            <a:r>
              <a:t>Digitization &amp; Infrastructure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R8. Digitize Maps: </a:t>
            </a:r>
            <a:r>
              <a:rPr sz="1080">
                <a:solidFill>
                  <a:srgbClr val="647491"/>
                </a:solidFill>
                <a:latin typeface="Segoe UI"/>
              </a:rPr>
              <a:t>Digitize remaining 78 monthly block maps.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Regional HMIS: </a:t>
            </a:r>
            <a:r>
              <a:rPr sz="1080">
                <a:solidFill>
                  <a:srgbClr val="647491"/>
                </a:solidFill>
                <a:latin typeface="Segoe UI"/>
              </a:rPr>
              <a:t>Unify real-time city and county bed tracking.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True Evaluation: </a:t>
            </a:r>
            <a:r>
              <a:rPr sz="1080">
                <a:solidFill>
                  <a:srgbClr val="647491"/>
                </a:solidFill>
                <a:latin typeface="Segoe UI"/>
              </a:rPr>
              <a:t>Measure regional outcomes, not just local clearing.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1F26"/>
                </a:solidFill>
                <a:latin typeface="Segoe UI"/>
              </a:rPr>
              <a:t>• Leaders: </a:t>
            </a:r>
            <a:r>
              <a:rPr sz="1080">
                <a:solidFill>
                  <a:srgbClr val="647491"/>
                </a:solidFill>
                <a:latin typeface="Segoe UI"/>
              </a:rPr>
              <a:t>County HHS, RTFH, DSA.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OPERATIONAL DECISION TOOL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Interactive Decision-Support System: The Streamlit Executive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13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6858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7 DASHBOARD MODULES (TASK 9.1)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Tab 1: History: </a:t>
            </a:r>
            <a:r>
              <a:rPr sz="1080">
                <a:solidFill>
                  <a:srgbClr val="1D1F26"/>
                </a:solidFill>
                <a:latin typeface="Segoe UI"/>
              </a:rPr>
              <a:t>Multi-year trends with policy epoch overlays.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Tab 2: Forecast: </a:t>
            </a:r>
            <a:r>
              <a:rPr sz="1080">
                <a:solidFill>
                  <a:srgbClr val="1D1F26"/>
                </a:solidFill>
                <a:latin typeface="Segoe UI"/>
              </a:rPr>
              <a:t>2026 projections, 95% fans, and stress-testing.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Tab 3: Hotspots: </a:t>
            </a:r>
            <a:r>
              <a:rPr sz="1080">
                <a:solidFill>
                  <a:srgbClr val="1D1F26"/>
                </a:solidFill>
                <a:latin typeface="Segoe UI"/>
              </a:rPr>
              <a:t>Interactive Gi* maps and centroid migration.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Tab 4: Regions: </a:t>
            </a:r>
            <a:r>
              <a:rPr sz="1080">
                <a:solidFill>
                  <a:srgbClr val="1D1F26"/>
                </a:solidFill>
                <a:latin typeface="Segoe UI"/>
              </a:rPr>
              <a:t>STL decomposition and seasonality stats.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Tab 5: Calculator: </a:t>
            </a:r>
            <a:r>
              <a:rPr sz="1080">
                <a:solidFill>
                  <a:srgbClr val="1D1F26"/>
                </a:solidFill>
                <a:latin typeface="Segoe UI"/>
              </a:rPr>
              <a:t>OLS estimator enforcing the 4 Comm Rules.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Tab 6: Methods: </a:t>
            </a:r>
            <a:r>
              <a:rPr sz="1080">
                <a:solidFill>
                  <a:srgbClr val="1D1F26"/>
                </a:solidFill>
                <a:latin typeface="Segoe UI"/>
              </a:rPr>
              <a:t>Multiplier transparency and boundary docs.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Tab 7: Alerts: </a:t>
            </a:r>
            <a:r>
              <a:rPr sz="1080">
                <a:solidFill>
                  <a:srgbClr val="1D1F26"/>
                </a:solidFill>
                <a:latin typeface="Segoe UI"/>
              </a:rPr>
              <a:t>Control charts (CUSUM) for early-warnings.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68777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645920"/>
            <a:ext cx="31391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93E9C"/>
                </a:solidFill>
                <a:latin typeface="Trebuchet MS"/>
              </a:defRPr>
            </a:pPr>
            <a:r>
              <a:t>DEPLOYMENT &amp; ACCESS INFO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Local URL: </a:t>
            </a:r>
            <a:r>
              <a:rPr sz="1100">
                <a:solidFill>
                  <a:srgbClr val="1D1F26"/>
                </a:solidFill>
                <a:latin typeface="Segoe UI"/>
              </a:rPr>
              <a:t>http://localhost:8501 (Fast response)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Cloud URL: </a:t>
            </a:r>
            <a:r>
              <a:rPr sz="1100">
                <a:solidFill>
                  <a:srgbClr val="1D1F26"/>
                </a:solidFill>
                <a:latin typeface="Segoe UI"/>
              </a:rPr>
              <a:t>https://downtown-sd-homelessness.streamlit.app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Quality Check: </a:t>
            </a:r>
            <a:r>
              <a:rPr sz="1100">
                <a:solidFill>
                  <a:srgbClr val="1D1F26"/>
                </a:solidFill>
                <a:latin typeface="Segoe UI"/>
              </a:rPr>
              <a:t>46/46 unit tests passing.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Performance: </a:t>
            </a:r>
            <a:r>
              <a:rPr sz="1100">
                <a:solidFill>
                  <a:srgbClr val="1D1F26"/>
                </a:solidFill>
                <a:latin typeface="Segoe UI"/>
              </a:rPr>
              <a:t>Sub-second caching via @st.cache_data.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A58E4"/>
                </a:solidFill>
                <a:latin typeface="Segoe UI"/>
              </a:rPr>
              <a:t>• Audience: </a:t>
            </a:r>
            <a:r>
              <a:rPr sz="1100">
                <a:solidFill>
                  <a:srgbClr val="1D1F26"/>
                </a:solidFill>
                <a:latin typeface="Segoe UI"/>
              </a:rPr>
              <a:t>City Council, RTFH, DSDP operations.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94415" y="0"/>
            <a:ext cx="1097280" cy="749808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"/>
            <a:ext cx="54864" cy="749808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A58E4"/>
                </a:solidFill>
                <a:latin typeface="Segoe UI"/>
              </a:defRPr>
            </a:pPr>
            <a:r>
              <a:t>SYNTHESIS &amp; NEXT STEPS</a:t>
            </a:r>
          </a:p>
          <a:p>
            <a:pPr>
              <a:defRPr sz="2000" b="1">
                <a:solidFill>
                  <a:srgbClr val="293E9C"/>
                </a:solidFill>
                <a:latin typeface="Trebuchet MS"/>
              </a:defRPr>
            </a:pPr>
            <a:r>
              <a:t>Synthesis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0972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91"/>
                </a:solidFill>
                <a:latin typeface="Segoe UI"/>
              </a:defRPr>
            </a:pPr>
            <a:r>
              <a:t>Data Science Alliance • Downtown San Diego Homeless Population Analysis • Sources: DSDP Field Counts &amp; RTFH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93E9C"/>
                </a:solidFill>
                <a:latin typeface="Segoe UI"/>
              </a:defRPr>
            </a:pPr>
            <a:r>
              <a:t>Slide 14 of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109728" cy="1417320"/>
          </a:xfrm>
          <a:prstGeom prst="rect">
            <a:avLst/>
          </a:prstGeom>
          <a:solidFill>
            <a:srgbClr val="29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572768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93E9C"/>
                </a:solidFill>
                <a:latin typeface="Trebuchet MS"/>
              </a:defRPr>
            </a:pPr>
            <a:r>
              <a:t>FUND YEAR-ROUND</a:t>
            </a:r>
          </a:p>
          <a:p>
            <a:pPr>
              <a:spcAft>
                <a:spcPts val="4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End Seasonal Budgeting</a:t>
            </a:r>
          </a:p>
          <a:p>
            <a:pPr>
              <a:defRPr sz="1080">
                <a:solidFill>
                  <a:srgbClr val="647491"/>
                </a:solidFill>
                <a:latin typeface="Segoe UI"/>
              </a:defRPr>
            </a:pPr>
            <a:r>
              <a:t>Data proves zero seasonality (p=0.995). Lock investments into permanent capacity and target South East Village hotspots.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109728" cy="1417320"/>
          </a:xfrm>
          <a:prstGeom prst="rect">
            <a:avLst/>
          </a:prstGeom>
          <a:solidFill>
            <a:srgbClr val="3A5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27248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3A58E4"/>
                </a:solidFill>
                <a:latin typeface="Trebuchet MS"/>
              </a:defRPr>
            </a:pPr>
            <a:r>
              <a:t>ACKNOWLEDGE REALITY</a:t>
            </a:r>
          </a:p>
          <a:p>
            <a:pPr>
              <a:spcAft>
                <a:spcPts val="4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Fix Divergence</a:t>
            </a:r>
          </a:p>
          <a:p>
            <a:pPr>
              <a:defRPr sz="1080">
                <a:solidFill>
                  <a:srgbClr val="647491"/>
                </a:solidFill>
                <a:latin typeface="Segoe UI"/>
              </a:defRPr>
            </a:pPr>
            <a:r>
              <a:t>Downtown drops pair with countywide highs (6,110). Stop localized displacement; demand countywide shelter collaboration.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109728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59669"/>
                </a:solidFill>
                <a:latin typeface="Trebuchet MS"/>
              </a:defRPr>
            </a:pPr>
            <a:r>
              <a:t>DATA TRANSPARENCY</a:t>
            </a:r>
          </a:p>
          <a:p>
            <a:pPr>
              <a:spcAft>
                <a:spcPts val="400"/>
              </a:spcAft>
              <a:defRPr sz="1150" b="1">
                <a:solidFill>
                  <a:srgbClr val="1D1F26"/>
                </a:solidFill>
                <a:latin typeface="Segoe UI"/>
              </a:defRPr>
            </a:pPr>
            <a:r>
              <a:t>Digitize &amp; Retrain</a:t>
            </a:r>
          </a:p>
          <a:p>
            <a:pPr>
              <a:defRPr sz="1080">
                <a:solidFill>
                  <a:srgbClr val="647491"/>
                </a:solidFill>
                <a:latin typeface="Segoe UI"/>
              </a:defRPr>
            </a:pPr>
            <a:r>
              <a:t>Digitize remaining 78 block maps. Annually retrain the OLS model for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