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0" y="822960"/>
            <a:ext cx="10362895" cy="5212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DC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463040" y="1280160"/>
            <a:ext cx="4389120" cy="384048"/>
          </a:xfrm>
          <a:prstGeom prst="roundRect">
            <a:avLst>
              <a:gd name="adj" fmla="val 2500"/>
            </a:avLst>
          </a:prstGeom>
          <a:solidFill>
            <a:srgbClr val="D3DFFF"/>
          </a:solidFill>
          <a:ln w="12700">
            <a:solidFill>
              <a:srgbClr val="9AA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463040" y="1280160"/>
            <a:ext cx="4389120" cy="384048"/>
          </a:xfrm>
          <a:prstGeom prst="rect">
            <a:avLst/>
          </a:prstGeom>
          <a:noFill/>
        </p:spPr>
        <p:txBody>
          <a:bodyPr wrap="none" lIns="164592" tIns="73152">
            <a:spAutoFit/>
          </a:bodyPr>
          <a:lstStyle/>
          <a:p>
            <a:pPr>
              <a:defRPr sz="1050" b="1">
                <a:solidFill>
                  <a:srgbClr val="293E9C"/>
                </a:solidFill>
                <a:latin typeface="Segoe UI"/>
              </a:defRPr>
            </a:pPr>
            <a:r>
              <a:t>DATA SCIENCE ALLIANCE • EXECUTIVE SYNTHESIS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874519"/>
            <a:ext cx="9144000" cy="2103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3400" b="1">
                <a:solidFill>
                  <a:srgbClr val="293E9C"/>
                </a:solidFill>
                <a:latin typeface="Trebuchet MS"/>
              </a:defRPr>
            </a:pPr>
            <a:r>
              <a:t>Downtown San Diego Unsheltered</a:t>
            </a:r>
            <a:br/>
            <a:r>
              <a:t>Homeless Population Analysis</a:t>
            </a:r>
          </a:p>
          <a:p>
            <a:pPr>
              <a:spcAft>
                <a:spcPts val="1000"/>
              </a:spcAft>
              <a:defRPr sz="1500" b="1">
                <a:solidFill>
                  <a:srgbClr val="3A58E4"/>
                </a:solidFill>
                <a:latin typeface="Segoe UI"/>
              </a:defRPr>
            </a:pPr>
            <a:r>
              <a:t>Longitudinal Modeling, Spatial Dynamics &amp; Macro Policy Governance (2017–2025)</a:t>
            </a:r>
          </a:p>
          <a:p>
            <a:pPr>
              <a:defRPr sz="1300">
                <a:solidFill>
                  <a:srgbClr val="647491"/>
                </a:solidFill>
                <a:latin typeface="Segoe UI"/>
              </a:defRPr>
            </a:pPr>
            <a:r>
              <a:t>Kyaw Soe Lwin | Data Science Alliance Lead Project Deliverable</a:t>
            </a:r>
          </a:p>
        </p:txBody>
      </p:sp>
      <p:sp>
        <p:nvSpPr>
          <p:cNvPr id="7" name="Rectangle 6"/>
          <p:cNvSpPr/>
          <p:nvPr/>
        </p:nvSpPr>
        <p:spPr>
          <a:xfrm>
            <a:off x="1463040" y="4297680"/>
            <a:ext cx="9144000" cy="13716"/>
          </a:xfrm>
          <a:prstGeom prst="rect">
            <a:avLst/>
          </a:prstGeom>
          <a:solidFill>
            <a:srgbClr val="DCE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63040" y="4480560"/>
            <a:ext cx="283464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3A58E4"/>
                </a:solidFill>
                <a:latin typeface="Segoe UI"/>
              </a:defRPr>
            </a:pPr>
            <a:r>
              <a:t>LONGITUDINAL SCOPE</a:t>
            </a:r>
          </a:p>
          <a:p>
            <a:pPr>
              <a:defRPr sz="1050">
                <a:solidFill>
                  <a:srgbClr val="1D1F26"/>
                </a:solidFill>
                <a:latin typeface="Segoe UI"/>
              </a:defRPr>
            </a:pPr>
            <a:r>
              <a:t>9 Years • 108 Months (2017–2025)</a:t>
            </a:r>
            <a:br/>
            <a:r>
              <a:t>7 Downtown Neighborhoods Analyzed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4480560"/>
            <a:ext cx="283464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3A58E4"/>
                </a:solidFill>
                <a:latin typeface="Segoe UI"/>
              </a:defRPr>
            </a:pPr>
            <a:r>
              <a:t>DUAL DATA PIPELINE</a:t>
            </a:r>
          </a:p>
          <a:p>
            <a:pPr>
              <a:defRPr sz="1050">
                <a:solidFill>
                  <a:srgbClr val="1D1F26"/>
                </a:solidFill>
                <a:latin typeface="Segoe UI"/>
              </a:defRPr>
            </a:pPr>
            <a:r>
              <a:t>DSDP Clean &amp; Safe Field Counts</a:t>
            </a:r>
            <a:br/>
            <a:r>
              <a:t>+ RTFH Countywide PIT Census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0" y="4480560"/>
            <a:ext cx="283464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3A58E4"/>
                </a:solidFill>
                <a:latin typeface="Segoe UI"/>
              </a:defRPr>
            </a:pPr>
            <a:r>
              <a:t>PRODUCTION DELIVERABLES</a:t>
            </a:r>
          </a:p>
          <a:p>
            <a:pPr>
              <a:defRPr sz="1050">
                <a:solidFill>
                  <a:srgbClr val="1D1F26"/>
                </a:solidFill>
                <a:latin typeface="Segoe UI"/>
              </a:defRPr>
            </a:pPr>
            <a:r>
              <a:t>12-Slide Deck • 7-Tab Streamlit App</a:t>
            </a:r>
            <a:br/>
            <a:r>
              <a:t>Strategic Action Roadmap (R1–R8)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6309360"/>
            <a:ext cx="10728655" cy="10972"/>
          </a:xfrm>
          <a:prstGeom prst="rect">
            <a:avLst/>
          </a:prstGeom>
          <a:solidFill>
            <a:srgbClr val="DCE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382512"/>
            <a:ext cx="86868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647491"/>
                </a:solidFill>
                <a:latin typeface="Segoe UI"/>
              </a:defRPr>
            </a:pPr>
            <a:r>
              <a:t>Data Science Alliance • Downtown San Diego Homeless Population Analysis • Sources: DSDP Field Counts &amp; RTFH PIT Census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382512"/>
            <a:ext cx="18589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00" b="1">
                <a:solidFill>
                  <a:srgbClr val="293E9C"/>
                </a:solidFill>
                <a:latin typeface="Segoe UI"/>
              </a:defRPr>
            </a:pPr>
            <a:r>
              <a:t>Slide 01 of 12</a:t>
            </a:r>
          </a:p>
        </p:txBody>
      </p:sp>
    </p:spTree>
  </p:cSld>
  <p:clrMapOvr>
    <a:masterClrMapping/>
  </p:clrMapOvr>
  <p:transition spd="med" advClick="1">
    <p:fade thruBlk="0"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094415" y="0"/>
            <a:ext cx="1097280" cy="749808"/>
          </a:xfrm>
          <a:prstGeom prst="rect">
            <a:avLst/>
          </a:prstGeom>
          <a:solidFill>
            <a:srgbClr val="293E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FFFFFF"/>
                </a:solidFill>
                <a:latin typeface="Trebuchet MS"/>
              </a:defRPr>
            </a:pPr>
            <a:r>
              <a:t>02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384048"/>
            <a:ext cx="54864" cy="749808"/>
          </a:xfrm>
          <a:prstGeom prst="rect">
            <a:avLst/>
          </a:prstGeom>
          <a:solidFill>
            <a:srgbClr val="3A58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347472"/>
            <a:ext cx="9875520" cy="8412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3A58E4"/>
                </a:solidFill>
                <a:latin typeface="Segoe UI"/>
              </a:defRPr>
            </a:pPr>
            <a:r>
              <a:t>LONGITUDINAL EPIDEMIOLOGY</a:t>
            </a:r>
          </a:p>
          <a:p>
            <a:pPr>
              <a:defRPr sz="2000" b="1">
                <a:solidFill>
                  <a:srgbClr val="293E9C"/>
                </a:solidFill>
                <a:latin typeface="Trebuchet MS"/>
              </a:defRPr>
            </a:pPr>
            <a:r>
              <a:t>Macro Trajectory: Three Distinct Epochs Across 9 Years (2017–2025)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207008"/>
            <a:ext cx="10728655" cy="10972"/>
          </a:xfrm>
          <a:prstGeom prst="rect">
            <a:avLst/>
          </a:prstGeom>
          <a:solidFill>
            <a:srgbClr val="DCE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6309360"/>
            <a:ext cx="10728655" cy="10972"/>
          </a:xfrm>
          <a:prstGeom prst="rect">
            <a:avLst/>
          </a:prstGeom>
          <a:solidFill>
            <a:srgbClr val="DCE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382512"/>
            <a:ext cx="86868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647491"/>
                </a:solidFill>
                <a:latin typeface="Segoe UI"/>
              </a:defRPr>
            </a:pPr>
            <a:r>
              <a:t>Data Science Alliance • Downtown San Diego Homeless Population Analysis • Sources: DSDP Field Counts &amp; RTFH PIT Census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382512"/>
            <a:ext cx="18589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00" b="1">
                <a:solidFill>
                  <a:srgbClr val="293E9C"/>
                </a:solidFill>
                <a:latin typeface="Segoe UI"/>
              </a:defRPr>
            </a:pPr>
            <a:r>
              <a:t>Slide 02 of 12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371600"/>
            <a:ext cx="1325880" cy="1051560"/>
          </a:xfrm>
          <a:prstGeom prst="roundRect">
            <a:avLst>
              <a:gd name="adj" fmla="val 2500"/>
            </a:avLst>
          </a:prstGeom>
          <a:solidFill>
            <a:srgbClr val="293E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1426464"/>
            <a:ext cx="118872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FFFFF"/>
                </a:solidFill>
                <a:latin typeface="Trebuchet MS"/>
              </a:defRPr>
            </a:pPr>
            <a:r>
              <a:t>529</a:t>
            </a:r>
          </a:p>
          <a:p>
            <a:pPr>
              <a:defRPr sz="800" b="1">
                <a:solidFill>
                  <a:srgbClr val="FFFFFF"/>
                </a:solidFill>
                <a:latin typeface="Segoe UI"/>
              </a:defRPr>
            </a:pPr>
            <a:r>
              <a:t>SERIES LOW</a:t>
            </a:r>
          </a:p>
          <a:p>
            <a:pPr>
              <a:defRPr sz="720">
                <a:solidFill>
                  <a:srgbClr val="9AADFF"/>
                </a:solidFill>
                <a:latin typeface="Segoe UI"/>
              </a:defRPr>
            </a:pPr>
            <a:r>
              <a:t>March 2020 (COVID trough)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148840" y="1371600"/>
            <a:ext cx="1325880" cy="1051560"/>
          </a:xfrm>
          <a:prstGeom prst="roundRect">
            <a:avLst>
              <a:gd name="adj" fmla="val 2500"/>
            </a:avLst>
          </a:prstGeom>
          <a:solidFill>
            <a:srgbClr val="293E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21992" y="1426464"/>
            <a:ext cx="118872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FFFFF"/>
                </a:solidFill>
                <a:latin typeface="Trebuchet MS"/>
              </a:defRPr>
            </a:pPr>
            <a:r>
              <a:t>2,103</a:t>
            </a:r>
          </a:p>
          <a:p>
            <a:pPr>
              <a:defRPr sz="800" b="1">
                <a:solidFill>
                  <a:srgbClr val="FFFFFF"/>
                </a:solidFill>
                <a:latin typeface="Segoe UI"/>
              </a:defRPr>
            </a:pPr>
            <a:r>
              <a:t>SERIES PEAK</a:t>
            </a:r>
          </a:p>
          <a:p>
            <a:pPr>
              <a:defRPr sz="720">
                <a:solidFill>
                  <a:srgbClr val="9AADFF"/>
                </a:solidFill>
                <a:latin typeface="Segoe UI"/>
              </a:defRPr>
            </a:pPr>
            <a:r>
              <a:t>May 2023 (Crisis peak)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66160" y="1371600"/>
            <a:ext cx="1325880" cy="105156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DC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39312" y="1426464"/>
            <a:ext cx="118872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293E9C"/>
                </a:solidFill>
                <a:latin typeface="Trebuchet MS"/>
              </a:defRPr>
            </a:pPr>
            <a:r>
              <a:t>851</a:t>
            </a:r>
          </a:p>
          <a:p>
            <a:pPr>
              <a:defRPr sz="800" b="1">
                <a:solidFill>
                  <a:srgbClr val="293E9C"/>
                </a:solidFill>
                <a:latin typeface="Segoe UI"/>
              </a:defRPr>
            </a:pPr>
            <a:r>
              <a:t>JAN 2025 COUNT</a:t>
            </a:r>
          </a:p>
          <a:p>
            <a:pPr>
              <a:defRPr sz="720">
                <a:solidFill>
                  <a:srgbClr val="647491"/>
                </a:solidFill>
                <a:latin typeface="Segoe UI"/>
              </a:defRPr>
            </a:pPr>
            <a:r>
              <a:t>−59.5% from peak (Stabilization)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2560320"/>
            <a:ext cx="4206240" cy="36118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DC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68680" y="2697480"/>
            <a:ext cx="3931920" cy="868680"/>
          </a:xfrm>
          <a:prstGeom prst="roundRect">
            <a:avLst>
              <a:gd name="adj" fmla="val 2500"/>
            </a:avLst>
          </a:prstGeom>
          <a:solidFill>
            <a:srgbClr val="D3DFFF"/>
          </a:solidFill>
          <a:ln w="12700">
            <a:solidFill>
              <a:srgbClr val="3A5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78408" y="2770632"/>
            <a:ext cx="3712464" cy="7223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>
                <a:solidFill>
                  <a:srgbClr val="293E9C"/>
                </a:solidFill>
                <a:latin typeface="Segoe UI"/>
              </a:rPr>
              <a:t>Key Takeaway: </a:t>
            </a:r>
            <a:r>
              <a:rPr sz="1000">
                <a:solidFill>
                  <a:srgbClr val="1D1F26"/>
                </a:solidFill>
                <a:latin typeface="Segoe UI"/>
              </a:rPr>
              <a:t>Downtown San Diego experienced 3 distinct epochs across 9 years—contraction, crisis peak, and policy stabilization—with 4 unpublished months in 2025.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3703320"/>
            <a:ext cx="3931920" cy="23774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/>
          <a:p>
            <a:pPr>
              <a:spcAft>
                <a:spcPts val="400"/>
              </a:spcAft>
            </a:pPr>
            <a:r>
              <a:rPr sz="980" b="1">
                <a:solidFill>
                  <a:srgbClr val="3A58E4"/>
                </a:solidFill>
                <a:latin typeface="Segoe UI"/>
              </a:rPr>
              <a:t>• Epoch 1 (2017–2020): </a:t>
            </a:r>
            <a:r>
              <a:rPr sz="919">
                <a:solidFill>
                  <a:srgbClr val="1D1F26"/>
                </a:solidFill>
                <a:latin typeface="Segoe UI"/>
              </a:rPr>
              <a:t>Baseline contraction from 882 to all-time series low of 529 in March 2020 during initial COVID de-densification.</a:t>
            </a:r>
          </a:p>
          <a:p>
            <a:pPr>
              <a:spcAft>
                <a:spcPts val="400"/>
              </a:spcAft>
            </a:pPr>
            <a:r>
              <a:rPr sz="980" b="1">
                <a:solidFill>
                  <a:srgbClr val="3A58E4"/>
                </a:solidFill>
                <a:latin typeface="Segoe UI"/>
              </a:rPr>
              <a:t>• Epoch 2 (2021–2023): </a:t>
            </a:r>
            <a:r>
              <a:rPr sz="919">
                <a:solidFill>
                  <a:srgbClr val="1D1F26"/>
                </a:solidFill>
                <a:latin typeface="Segoe UI"/>
              </a:rPr>
              <a:t>Post-pandemic surge of +297%, peaking at 2,103 in May 2023 driven by evictions, inflation, and street encampments.</a:t>
            </a:r>
          </a:p>
          <a:p>
            <a:pPr>
              <a:spcAft>
                <a:spcPts val="400"/>
              </a:spcAft>
            </a:pPr>
            <a:r>
              <a:rPr sz="980" b="1">
                <a:solidFill>
                  <a:srgbClr val="3A58E4"/>
                </a:solidFill>
                <a:latin typeface="Segoe UI"/>
              </a:rPr>
              <a:t>• Epoch 3 (2024–2025): </a:t>
            </a:r>
            <a:r>
              <a:rPr sz="919">
                <a:solidFill>
                  <a:srgbClr val="1D1F26"/>
                </a:solidFill>
                <a:latin typeface="Segoe UI"/>
              </a:rPr>
              <a:t>Enforcement stabilization; Jan 2025 count dropped to 851 (−59.5% from peak), ending Dec 2025 at 985.</a:t>
            </a:r>
          </a:p>
          <a:p>
            <a:pPr>
              <a:spcAft>
                <a:spcPts val="400"/>
              </a:spcAft>
            </a:pPr>
            <a:r>
              <a:rPr sz="980" b="1">
                <a:solidFill>
                  <a:srgbClr val="3A58E4"/>
                </a:solidFill>
                <a:latin typeface="Segoe UI"/>
              </a:rPr>
              <a:t>• 2025 Data Notice: </a:t>
            </a:r>
            <a:r>
              <a:rPr sz="919">
                <a:solidFill>
                  <a:srgbClr val="1D1F26"/>
                </a:solidFill>
                <a:latin typeface="Segoe UI"/>
              </a:rPr>
              <a:t>Jul, Aug, Oct, Nov unpublished by DSDP; handled with honest interpolation and explicit data gap indicators.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120640" y="1371600"/>
            <a:ext cx="6339535" cy="480060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DC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task93_trajectory_9ye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800" y="2255596"/>
            <a:ext cx="6065215" cy="3032607"/>
          </a:xfrm>
          <a:prstGeom prst="rect">
            <a:avLst/>
          </a:prstGeom>
        </p:spPr>
      </p:pic>
    </p:spTree>
  </p:cSld>
  <p:clrMapOvr>
    <a:masterClrMapping/>
  </p:clrMapOvr>
  <p:transition spd="med" advClick="1">
    <p:fade thruBlk="0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094415" y="0"/>
            <a:ext cx="1097280" cy="749808"/>
          </a:xfrm>
          <a:prstGeom prst="rect">
            <a:avLst/>
          </a:prstGeom>
          <a:solidFill>
            <a:srgbClr val="293E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FFFFFF"/>
                </a:solidFill>
                <a:latin typeface="Trebuchet MS"/>
              </a:defRPr>
            </a:pPr>
            <a:r>
              <a:t>03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384048"/>
            <a:ext cx="54864" cy="749808"/>
          </a:xfrm>
          <a:prstGeom prst="rect">
            <a:avLst/>
          </a:prstGeom>
          <a:solidFill>
            <a:srgbClr val="3A58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347472"/>
            <a:ext cx="9875520" cy="8412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3A58E4"/>
                </a:solidFill>
                <a:latin typeface="Segoe UI"/>
              </a:defRPr>
            </a:pPr>
            <a:r>
              <a:t>SPATIAL MEASUREMENT</a:t>
            </a:r>
          </a:p>
          <a:p>
            <a:pPr>
              <a:defRPr sz="2000" b="1">
                <a:solidFill>
                  <a:srgbClr val="293E9C"/>
                </a:solidFill>
                <a:latin typeface="Trebuchet MS"/>
              </a:defRPr>
            </a:pPr>
            <a:r>
              <a:t>Measurement Validity: The 2022 Footprint Expansion Artifact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207008"/>
            <a:ext cx="10728655" cy="10972"/>
          </a:xfrm>
          <a:prstGeom prst="rect">
            <a:avLst/>
          </a:prstGeom>
          <a:solidFill>
            <a:srgbClr val="DCE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6309360"/>
            <a:ext cx="10728655" cy="10972"/>
          </a:xfrm>
          <a:prstGeom prst="rect">
            <a:avLst/>
          </a:prstGeom>
          <a:solidFill>
            <a:srgbClr val="DCE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382512"/>
            <a:ext cx="86868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647491"/>
                </a:solidFill>
                <a:latin typeface="Segoe UI"/>
              </a:defRPr>
            </a:pPr>
            <a:r>
              <a:t>Data Science Alliance • Downtown San Diego Homeless Population Analysis • Sources: DSDP Field Counts &amp; RTFH PIT Census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382512"/>
            <a:ext cx="18589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00" b="1">
                <a:solidFill>
                  <a:srgbClr val="293E9C"/>
                </a:solidFill>
                <a:latin typeface="Segoe UI"/>
              </a:defRPr>
            </a:pPr>
            <a:r>
              <a:t>Slide 03 of 12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371600"/>
            <a:ext cx="1325880" cy="1051560"/>
          </a:xfrm>
          <a:prstGeom prst="roundRect">
            <a:avLst>
              <a:gd name="adj" fmla="val 2500"/>
            </a:avLst>
          </a:prstGeom>
          <a:solidFill>
            <a:srgbClr val="293E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1426464"/>
            <a:ext cx="118872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900" b="1">
                <a:solidFill>
                  <a:srgbClr val="FFFFFF"/>
                </a:solidFill>
                <a:latin typeface="Trebuchet MS"/>
              </a:defRPr>
            </a:pPr>
            <a:r>
              <a:t>+121</a:t>
            </a:r>
          </a:p>
          <a:p>
            <a:pPr>
              <a:defRPr sz="800" b="1">
                <a:solidFill>
                  <a:srgbClr val="FFFFFF"/>
                </a:solidFill>
                <a:latin typeface="Segoe UI"/>
              </a:defRPr>
            </a:pPr>
            <a:r>
              <a:t>ADDED BLOCKS</a:t>
            </a:r>
          </a:p>
          <a:p>
            <a:pPr>
              <a:defRPr sz="720">
                <a:solidFill>
                  <a:srgbClr val="9AADFF"/>
                </a:solidFill>
                <a:latin typeface="Segoe UI"/>
              </a:defRPr>
            </a:pPr>
            <a:r>
              <a:t>October 2022 expansion (+46.4%)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148840" y="1371600"/>
            <a:ext cx="1325880" cy="1051560"/>
          </a:xfrm>
          <a:prstGeom prst="roundRect">
            <a:avLst>
              <a:gd name="adj" fmla="val 2500"/>
            </a:avLst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21992" y="1426464"/>
            <a:ext cx="118872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900" b="1">
                <a:solidFill>
                  <a:srgbClr val="FFFFFF"/>
                </a:solidFill>
                <a:latin typeface="Trebuchet MS"/>
              </a:defRPr>
            </a:pPr>
            <a:r>
              <a:t>32.8%</a:t>
            </a:r>
          </a:p>
          <a:p>
            <a:pPr>
              <a:defRPr sz="800" b="1">
                <a:solidFill>
                  <a:srgbClr val="FFFFFF"/>
                </a:solidFill>
                <a:latin typeface="Segoe UI"/>
              </a:defRPr>
            </a:pPr>
            <a:r>
              <a:t>PEAK WEDGE SHARE</a:t>
            </a:r>
          </a:p>
          <a:p>
            <a:pPr>
              <a:defRPr sz="720">
                <a:solidFill>
                  <a:srgbClr val="D3DFFF"/>
                </a:solidFill>
                <a:latin typeface="Segoe UI"/>
              </a:defRPr>
            </a:pPr>
            <a:r>
              <a:t>Jan 2023 (641 of 1,955 count)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66160" y="1371600"/>
            <a:ext cx="1325880" cy="105156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DC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39312" y="1426464"/>
            <a:ext cx="118872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900" b="1">
                <a:solidFill>
                  <a:srgbClr val="293E9C"/>
                </a:solidFill>
                <a:latin typeface="Trebuchet MS"/>
              </a:defRPr>
            </a:pPr>
            <a:r>
              <a:t>261 vs 382</a:t>
            </a:r>
          </a:p>
          <a:p>
            <a:pPr>
              <a:defRPr sz="800" b="1">
                <a:solidFill>
                  <a:srgbClr val="293E9C"/>
                </a:solidFill>
                <a:latin typeface="Segoe UI"/>
              </a:defRPr>
            </a:pPr>
            <a:r>
              <a:t>DUAL METRICS</a:t>
            </a:r>
          </a:p>
          <a:p>
            <a:pPr>
              <a:defRPr sz="720">
                <a:solidFill>
                  <a:srgbClr val="647491"/>
                </a:solidFill>
                <a:latin typeface="Segoe UI"/>
              </a:defRPr>
            </a:pPr>
            <a:r>
              <a:t>Core vs Expanded boundary reporting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2560320"/>
            <a:ext cx="4206240" cy="36118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DC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68680" y="2697480"/>
            <a:ext cx="3931920" cy="868680"/>
          </a:xfrm>
          <a:prstGeom prst="roundRect">
            <a:avLst>
              <a:gd name="adj" fmla="val 2500"/>
            </a:avLst>
          </a:prstGeom>
          <a:solidFill>
            <a:srgbClr val="D3DFFF"/>
          </a:solidFill>
          <a:ln w="12700">
            <a:solidFill>
              <a:srgbClr val="3A5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78408" y="2770632"/>
            <a:ext cx="3712464" cy="7223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>
                <a:solidFill>
                  <a:srgbClr val="293E9C"/>
                </a:solidFill>
                <a:latin typeface="Segoe UI"/>
              </a:rPr>
              <a:t>Key Takeaway: </a:t>
            </a:r>
            <a:r>
              <a:rPr sz="1000">
                <a:solidFill>
                  <a:srgbClr val="1D1F26"/>
                </a:solidFill>
                <a:latin typeface="Segoe UI"/>
              </a:rPr>
              <a:t>Over 32% of the apparent 2023 surge was an administrative measurement artifact caused by expanding the count perimeter by 121 blocks.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3703320"/>
            <a:ext cx="3931920" cy="23774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/>
          <a:p>
            <a:pPr>
              <a:spcAft>
                <a:spcPts val="400"/>
              </a:spcAft>
            </a:pPr>
            <a:r>
              <a:rPr sz="980" b="1">
                <a:solidFill>
                  <a:srgbClr val="3A58E4"/>
                </a:solidFill>
                <a:latin typeface="Segoe UI"/>
              </a:rPr>
              <a:t>• Perimeter Expansion: </a:t>
            </a:r>
            <a:r>
              <a:rPr sz="919">
                <a:solidFill>
                  <a:srgbClr val="1D1F26"/>
                </a:solidFill>
                <a:latin typeface="Segoe UI"/>
              </a:rPr>
              <a:t>In Oct 2022, DSDP expanded its counting footprint from 261 to 382 blocks (+46.4%), absorbing perimeter highway zones.</a:t>
            </a:r>
          </a:p>
          <a:p>
            <a:pPr>
              <a:spcAft>
                <a:spcPts val="400"/>
              </a:spcAft>
            </a:pPr>
            <a:r>
              <a:rPr sz="980" b="1">
                <a:solidFill>
                  <a:srgbClr val="3A58E4"/>
                </a:solidFill>
                <a:latin typeface="Segoe UI"/>
              </a:rPr>
              <a:t>• Wedge Quantification: </a:t>
            </a:r>
            <a:r>
              <a:rPr sz="919">
                <a:solidFill>
                  <a:srgbClr val="1D1F26"/>
                </a:solidFill>
                <a:latin typeface="Segoe UI"/>
              </a:rPr>
              <a:t>In Jan 2023, the added 121 blocks contributed 641 of 1,955 total individuals (32.8% of the entire reported count).</a:t>
            </a:r>
          </a:p>
          <a:p>
            <a:pPr>
              <a:spcAft>
                <a:spcPts val="400"/>
              </a:spcAft>
            </a:pPr>
            <a:r>
              <a:rPr sz="980" b="1">
                <a:solidFill>
                  <a:srgbClr val="3A58E4"/>
                </a:solidFill>
                <a:latin typeface="Segoe UI"/>
              </a:rPr>
              <a:t>• Persistent Effect: </a:t>
            </a:r>
            <a:r>
              <a:rPr sz="919">
                <a:solidFill>
                  <a:srgbClr val="1D1F26"/>
                </a:solidFill>
                <a:latin typeface="Segoe UI"/>
              </a:rPr>
              <a:t>Even in Jan 2025, the expansion wedge accounts for 84 of 847 spatial individuals (10.0% of total count).</a:t>
            </a:r>
          </a:p>
          <a:p>
            <a:pPr>
              <a:spcAft>
                <a:spcPts val="400"/>
              </a:spcAft>
            </a:pPr>
            <a:r>
              <a:rPr sz="980" b="1">
                <a:solidFill>
                  <a:srgbClr val="3A58E4"/>
                </a:solidFill>
                <a:latin typeface="Segoe UI"/>
              </a:rPr>
              <a:t>• Policy Directive (R3): </a:t>
            </a:r>
            <a:r>
              <a:rPr sz="919">
                <a:solidFill>
                  <a:srgbClr val="1D1F26"/>
                </a:solidFill>
                <a:latin typeface="Segoe UI"/>
              </a:rPr>
              <a:t>City reporting must mandate dual-series metrics (Core 261 vs Expanded 382) to avoid false longitudinal claims.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120640" y="1371600"/>
            <a:ext cx="6339535" cy="480060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DC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task93_footprint_wed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800" y="2338303"/>
            <a:ext cx="6065215" cy="2867192"/>
          </a:xfrm>
          <a:prstGeom prst="rect">
            <a:avLst/>
          </a:prstGeom>
        </p:spPr>
      </p:pic>
    </p:spTree>
  </p:cSld>
  <p:clrMapOvr>
    <a:masterClrMapping/>
  </p:clrMapOvr>
  <p:transition spd="med" advClick="1">
    <p:fade thruBlk="0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094415" y="0"/>
            <a:ext cx="1097280" cy="749808"/>
          </a:xfrm>
          <a:prstGeom prst="rect">
            <a:avLst/>
          </a:prstGeom>
          <a:solidFill>
            <a:srgbClr val="293E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FFFFFF"/>
                </a:solidFill>
                <a:latin typeface="Trebuchet MS"/>
              </a:defRPr>
            </a:pPr>
            <a:r>
              <a:t>04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384048"/>
            <a:ext cx="54864" cy="749808"/>
          </a:xfrm>
          <a:prstGeom prst="rect">
            <a:avLst/>
          </a:prstGeom>
          <a:solidFill>
            <a:srgbClr val="3A58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347472"/>
            <a:ext cx="9875520" cy="8412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3A58E4"/>
                </a:solidFill>
                <a:latin typeface="Segoe UI"/>
              </a:defRPr>
            </a:pPr>
            <a:r>
              <a:t>TEMPORAL DECOMPOSITION</a:t>
            </a:r>
          </a:p>
          <a:p>
            <a:pPr>
              <a:defRPr sz="2000" b="1">
                <a:solidFill>
                  <a:srgbClr val="293E9C"/>
                </a:solidFill>
                <a:latin typeface="Trebuchet MS"/>
              </a:defRPr>
            </a:pPr>
            <a:r>
              <a:t>Seasonality Quantified: Invariant Summer Peaks vs Policy Forces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207008"/>
            <a:ext cx="10728655" cy="10972"/>
          </a:xfrm>
          <a:prstGeom prst="rect">
            <a:avLst/>
          </a:prstGeom>
          <a:solidFill>
            <a:srgbClr val="DCE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6309360"/>
            <a:ext cx="10728655" cy="10972"/>
          </a:xfrm>
          <a:prstGeom prst="rect">
            <a:avLst/>
          </a:prstGeom>
          <a:solidFill>
            <a:srgbClr val="DCE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382512"/>
            <a:ext cx="86868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647491"/>
                </a:solidFill>
                <a:latin typeface="Segoe UI"/>
              </a:defRPr>
            </a:pPr>
            <a:r>
              <a:t>Data Science Alliance • Downtown San Diego Homeless Population Analysis • Sources: DSDP Field Counts &amp; RTFH PIT Census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382512"/>
            <a:ext cx="18589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00" b="1">
                <a:solidFill>
                  <a:srgbClr val="293E9C"/>
                </a:solidFill>
                <a:latin typeface="Segoe UI"/>
              </a:defRPr>
            </a:pPr>
            <a:r>
              <a:t>Slide 04 of 12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371600"/>
            <a:ext cx="1325880" cy="1051560"/>
          </a:xfrm>
          <a:prstGeom prst="roundRect">
            <a:avLst>
              <a:gd name="adj" fmla="val 2500"/>
            </a:avLst>
          </a:prstGeom>
          <a:solidFill>
            <a:srgbClr val="293E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1426464"/>
            <a:ext cx="118872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900" b="1">
                <a:solidFill>
                  <a:srgbClr val="FFFFFF"/>
                </a:solidFill>
                <a:latin typeface="Trebuchet MS"/>
              </a:defRPr>
            </a:pPr>
            <a:r>
              <a:t>August</a:t>
            </a:r>
          </a:p>
          <a:p>
            <a:pPr>
              <a:defRPr sz="800" b="1">
                <a:solidFill>
                  <a:srgbClr val="FFFFFF"/>
                </a:solidFill>
                <a:latin typeface="Segoe UI"/>
              </a:defRPr>
            </a:pPr>
            <a:r>
              <a:t>SEASONAL PEAK</a:t>
            </a:r>
          </a:p>
          <a:p>
            <a:pPr>
              <a:defRPr sz="720">
                <a:solidFill>
                  <a:srgbClr val="9AADFF"/>
                </a:solidFill>
                <a:latin typeface="Segoe UI"/>
              </a:defRPr>
            </a:pPr>
            <a:r>
              <a:t>+9.4% above annual baseline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148840" y="1371600"/>
            <a:ext cx="1325880" cy="1051560"/>
          </a:xfrm>
          <a:prstGeom prst="roundRect">
            <a:avLst>
              <a:gd name="adj" fmla="val 2500"/>
            </a:avLst>
          </a:prstGeom>
          <a:solidFill>
            <a:srgbClr val="3A58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21992" y="1426464"/>
            <a:ext cx="118872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900" b="1">
                <a:solidFill>
                  <a:srgbClr val="FFFFFF"/>
                </a:solidFill>
                <a:latin typeface="Trebuchet MS"/>
              </a:defRPr>
            </a:pPr>
            <a:r>
              <a:t>April</a:t>
            </a:r>
          </a:p>
          <a:p>
            <a:pPr>
              <a:defRPr sz="800" b="1">
                <a:solidFill>
                  <a:srgbClr val="FFFFFF"/>
                </a:solidFill>
                <a:latin typeface="Segoe UI"/>
              </a:defRPr>
            </a:pPr>
            <a:r>
              <a:t>SEASONAL TROUGH</a:t>
            </a:r>
          </a:p>
          <a:p>
            <a:pPr>
              <a:defRPr sz="720">
                <a:solidFill>
                  <a:srgbClr val="D3DFFF"/>
                </a:solidFill>
                <a:latin typeface="Segoe UI"/>
              </a:defRPr>
            </a:pPr>
            <a:r>
              <a:t>−10.8% below annual baseline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66160" y="1371600"/>
            <a:ext cx="1325880" cy="105156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DC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39312" y="1426464"/>
            <a:ext cx="118872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900" b="1">
                <a:solidFill>
                  <a:srgbClr val="293E9C"/>
                </a:solidFill>
                <a:latin typeface="Trebuchet MS"/>
              </a:defRPr>
            </a:pPr>
            <a:r>
              <a:t>p = 0.995</a:t>
            </a:r>
          </a:p>
          <a:p>
            <a:pPr>
              <a:defRPr sz="800" b="1">
                <a:solidFill>
                  <a:srgbClr val="293E9C"/>
                </a:solidFill>
                <a:latin typeface="Segoe UI"/>
              </a:defRPr>
            </a:pPr>
            <a:r>
              <a:t>KRUSKAL-WALLIS</a:t>
            </a:r>
          </a:p>
          <a:p>
            <a:pPr>
              <a:defRPr sz="720">
                <a:solidFill>
                  <a:srgbClr val="647491"/>
                </a:solidFill>
                <a:latin typeface="Segoe UI"/>
              </a:defRPr>
            </a:pPr>
            <a:r>
              <a:t>H = 2.66 (Not significant)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2560320"/>
            <a:ext cx="4206240" cy="36118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DC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68680" y="2697480"/>
            <a:ext cx="3931920" cy="868680"/>
          </a:xfrm>
          <a:prstGeom prst="roundRect">
            <a:avLst>
              <a:gd name="adj" fmla="val 2500"/>
            </a:avLst>
          </a:prstGeom>
          <a:solidFill>
            <a:srgbClr val="D3DFFF"/>
          </a:solidFill>
          <a:ln w="12700">
            <a:solidFill>
              <a:srgbClr val="3A5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78408" y="2770632"/>
            <a:ext cx="3712464" cy="7223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>
                <a:solidFill>
                  <a:srgbClr val="293E9C"/>
                </a:solidFill>
                <a:latin typeface="Segoe UI"/>
              </a:rPr>
              <a:t>Key Takeaway: </a:t>
            </a:r>
            <a:r>
              <a:rPr sz="1000">
                <a:solidFill>
                  <a:srgbClr val="1D1F26"/>
                </a:solidFill>
                <a:latin typeface="Segoe UI"/>
              </a:rPr>
              <a:t>Seasonal cycles peak in August (+9.4%) and trough in April (−10.8%), but non-parametric ANOVA (p=0.995) confirms policy regimes drive 90%+ of variance.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3703320"/>
            <a:ext cx="3931920" cy="23774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/>
          <a:p>
            <a:pPr>
              <a:spcAft>
                <a:spcPts val="400"/>
              </a:spcAft>
            </a:pPr>
            <a:r>
              <a:rPr sz="980" b="1">
                <a:solidFill>
                  <a:srgbClr val="3A58E4"/>
                </a:solidFill>
                <a:latin typeface="Segoe UI"/>
              </a:rPr>
              <a:t>• Additive Seasonal Swing: </a:t>
            </a:r>
            <a:r>
              <a:rPr sz="919">
                <a:solidFill>
                  <a:srgbClr val="1D1F26"/>
                </a:solidFill>
                <a:latin typeface="Segoe UI"/>
              </a:rPr>
              <a:t>STL decomposition reveals a consistent seasonal amplitude of ±110 individuals, peaking in warm summer months (July–August).</a:t>
            </a:r>
          </a:p>
          <a:p>
            <a:pPr>
              <a:spcAft>
                <a:spcPts val="400"/>
              </a:spcAft>
            </a:pPr>
            <a:r>
              <a:rPr sz="980" b="1">
                <a:solidFill>
                  <a:srgbClr val="3A58E4"/>
                </a:solidFill>
                <a:latin typeface="Segoe UI"/>
              </a:rPr>
              <a:t>• Statistical Significance: </a:t>
            </a:r>
            <a:r>
              <a:rPr sz="919">
                <a:solidFill>
                  <a:srgbClr val="1D1F26"/>
                </a:solidFill>
                <a:latin typeface="Segoe UI"/>
              </a:rPr>
              <a:t>Kruskal-Wallis test across calendar months yields H = 2.66, p = 0.995 (11 d.f.), indicating seasonality is subordinate to macro trend.</a:t>
            </a:r>
          </a:p>
          <a:p>
            <a:pPr>
              <a:spcAft>
                <a:spcPts val="400"/>
              </a:spcAft>
            </a:pPr>
            <a:r>
              <a:rPr sz="980" b="1">
                <a:solidFill>
                  <a:srgbClr val="3A58E4"/>
                </a:solidFill>
                <a:latin typeface="Segoe UI"/>
              </a:rPr>
              <a:t>• Operational Implication: </a:t>
            </a:r>
            <a:r>
              <a:rPr sz="919">
                <a:solidFill>
                  <a:srgbClr val="1D1F26"/>
                </a:solidFill>
                <a:latin typeface="Segoe UI"/>
              </a:rPr>
              <a:t>Seasonal changes require flexible shelter surge beds in summer, but cannot explain multi-year hundred-person swings.</a:t>
            </a:r>
          </a:p>
          <a:p>
            <a:pPr>
              <a:spcAft>
                <a:spcPts val="400"/>
              </a:spcAft>
            </a:pPr>
            <a:r>
              <a:rPr sz="980" b="1">
                <a:solidFill>
                  <a:srgbClr val="3A58E4"/>
                </a:solidFill>
                <a:latin typeface="Segoe UI"/>
              </a:rPr>
              <a:t>• Strategic Outreach Window: </a:t>
            </a:r>
            <a:r>
              <a:rPr sz="919">
                <a:solidFill>
                  <a:srgbClr val="1D1F26"/>
                </a:solidFill>
                <a:latin typeface="Segoe UI"/>
              </a:rPr>
              <a:t>April spring trough represents the optimal intervention window before the annual summer influx begins.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120640" y="1371600"/>
            <a:ext cx="6339535" cy="480060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DC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chart2_clean_h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800" y="2200569"/>
            <a:ext cx="6065215" cy="3142661"/>
          </a:xfrm>
          <a:prstGeom prst="rect">
            <a:avLst/>
          </a:prstGeom>
        </p:spPr>
      </p:pic>
    </p:spTree>
  </p:cSld>
  <p:clrMapOvr>
    <a:masterClrMapping/>
  </p:clrMapOvr>
  <p:transition spd="med" advClick="1">
    <p:fade thruBlk="0"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094415" y="0"/>
            <a:ext cx="1097280" cy="749808"/>
          </a:xfrm>
          <a:prstGeom prst="rect">
            <a:avLst/>
          </a:prstGeom>
          <a:solidFill>
            <a:srgbClr val="293E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FFFFFF"/>
                </a:solidFill>
                <a:latin typeface="Trebuchet MS"/>
              </a:defRPr>
            </a:pPr>
            <a:r>
              <a:t>05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384048"/>
            <a:ext cx="54864" cy="749808"/>
          </a:xfrm>
          <a:prstGeom prst="rect">
            <a:avLst/>
          </a:prstGeom>
          <a:solidFill>
            <a:srgbClr val="3A58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347472"/>
            <a:ext cx="9875520" cy="8412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3A58E4"/>
                </a:solidFill>
                <a:latin typeface="Segoe UI"/>
              </a:defRPr>
            </a:pPr>
            <a:r>
              <a:t>POLICY INTERVENTION TIMELINE</a:t>
            </a:r>
          </a:p>
          <a:p>
            <a:pPr>
              <a:defRPr sz="2000" b="1">
                <a:solidFill>
                  <a:srgbClr val="293E9C"/>
                </a:solidFill>
                <a:latin typeface="Trebuchet MS"/>
              </a:defRPr>
            </a:pPr>
            <a:r>
              <a:t>Chronology of Policy Regimes &amp; Structural Breaks (2017–2025)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207008"/>
            <a:ext cx="10728655" cy="10972"/>
          </a:xfrm>
          <a:prstGeom prst="rect">
            <a:avLst/>
          </a:prstGeom>
          <a:solidFill>
            <a:srgbClr val="DCE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6309360"/>
            <a:ext cx="10728655" cy="10972"/>
          </a:xfrm>
          <a:prstGeom prst="rect">
            <a:avLst/>
          </a:prstGeom>
          <a:solidFill>
            <a:srgbClr val="DCE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382512"/>
            <a:ext cx="86868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647491"/>
                </a:solidFill>
                <a:latin typeface="Segoe UI"/>
              </a:defRPr>
            </a:pPr>
            <a:r>
              <a:t>Data Science Alliance • Downtown San Diego Homeless Population Analysis • Sources: DSDP Field Counts &amp; RTFH PIT Census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382512"/>
            <a:ext cx="18589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00" b="1">
                <a:solidFill>
                  <a:srgbClr val="293E9C"/>
                </a:solidFill>
                <a:latin typeface="Segoe UI"/>
              </a:defRPr>
            </a:pPr>
            <a:r>
              <a:t>Slide 05 of 12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371600"/>
            <a:ext cx="5212080" cy="219456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DC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" y="1371600"/>
            <a:ext cx="5212080" cy="73152"/>
          </a:xfrm>
          <a:prstGeom prst="rect">
            <a:avLst/>
          </a:prstGeom>
          <a:solidFill>
            <a:srgbClr val="3A58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1481328"/>
            <a:ext cx="4846320" cy="2011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3A58E4"/>
                </a:solidFill>
                <a:latin typeface="Trebuchet MS"/>
              </a:defRPr>
            </a:pPr>
            <a:r>
              <a:t>REGIME 1: BASELINE &amp; HEPATITIS A (2017–2019)</a:t>
            </a:r>
          </a:p>
          <a:p>
            <a:pPr>
              <a:spcAft>
                <a:spcPts val="400"/>
              </a:spcAft>
              <a:defRPr sz="900" b="1">
                <a:solidFill>
                  <a:srgbClr val="647491"/>
                </a:solidFill>
                <a:latin typeface="Segoe UI"/>
              </a:defRPr>
            </a:pPr>
            <a:r>
              <a:t>Sanitation infrastructure &amp; initial shelter tents</a:t>
            </a:r>
          </a:p>
          <a:p>
            <a:pPr>
              <a:spcAft>
                <a:spcPts val="200"/>
              </a:spcAft>
            </a:pPr>
            <a:r>
              <a:rPr sz="950" b="1">
                <a:solidFill>
                  <a:srgbClr val="1D1F26"/>
                </a:solidFill>
                <a:latin typeface="Segoe UI"/>
              </a:rPr>
              <a:t>• Hepatitis A Outbreak: </a:t>
            </a:r>
            <a:r>
              <a:rPr sz="900">
                <a:solidFill>
                  <a:srgbClr val="647491"/>
                </a:solidFill>
                <a:latin typeface="Segoe UI"/>
              </a:rPr>
              <a:t>Emergency street power-washing and 3 bridge shelters opened.</a:t>
            </a:r>
          </a:p>
          <a:p>
            <a:pPr>
              <a:spcAft>
                <a:spcPts val="200"/>
              </a:spcAft>
            </a:pPr>
            <a:r>
              <a:rPr sz="950" b="1">
                <a:solidFill>
                  <a:srgbClr val="1D1F26"/>
                </a:solidFill>
                <a:latin typeface="Segoe UI"/>
              </a:rPr>
              <a:t>• Count Trajectory: </a:t>
            </a:r>
            <a:r>
              <a:rPr sz="900">
                <a:solidFill>
                  <a:srgbClr val="647491"/>
                </a:solidFill>
                <a:latin typeface="Segoe UI"/>
              </a:rPr>
              <a:t>Gradual contraction from 882 to ~750 individuals.</a:t>
            </a:r>
          </a:p>
          <a:p>
            <a:pPr>
              <a:spcAft>
                <a:spcPts val="200"/>
              </a:spcAft>
            </a:pPr>
            <a:r>
              <a:rPr sz="950" b="1">
                <a:solidFill>
                  <a:srgbClr val="1D1F26"/>
                </a:solidFill>
                <a:latin typeface="Segoe UI"/>
              </a:rPr>
              <a:t>• Multiplier Change: </a:t>
            </a:r>
            <a:r>
              <a:rPr sz="900">
                <a:solidFill>
                  <a:srgbClr val="647491"/>
                </a:solidFill>
                <a:latin typeface="Segoe UI"/>
              </a:rPr>
              <a:t>Transitioned tent multiplier from 2.0 to 1.75 in April 2017.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371600"/>
            <a:ext cx="5212080" cy="219456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DC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17920" y="1371600"/>
            <a:ext cx="5212080" cy="7315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1481328"/>
            <a:ext cx="4846320" cy="2011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0D9488"/>
                </a:solidFill>
                <a:latin typeface="Trebuchet MS"/>
              </a:defRPr>
            </a:pPr>
            <a:r>
              <a:t>REGIME 2: COVID-19 EMERGENCY RESPONSE (2020)</a:t>
            </a:r>
          </a:p>
          <a:p>
            <a:pPr>
              <a:spcAft>
                <a:spcPts val="400"/>
              </a:spcAft>
              <a:defRPr sz="900" b="1">
                <a:solidFill>
                  <a:srgbClr val="647491"/>
                </a:solidFill>
                <a:latin typeface="Segoe UI"/>
              </a:defRPr>
            </a:pPr>
            <a:r>
              <a:t>Mass congregate sheltering &amp; de-densification</a:t>
            </a:r>
          </a:p>
          <a:p>
            <a:pPr>
              <a:spcAft>
                <a:spcPts val="200"/>
              </a:spcAft>
            </a:pPr>
            <a:r>
              <a:rPr sz="950" b="1">
                <a:solidFill>
                  <a:srgbClr val="1D1F26"/>
                </a:solidFill>
                <a:latin typeface="Segoe UI"/>
              </a:rPr>
              <a:t>• Operation Shelter to Home: </a:t>
            </a:r>
            <a:r>
              <a:rPr sz="900">
                <a:solidFill>
                  <a:srgbClr val="647491"/>
                </a:solidFill>
                <a:latin typeface="Segoe UI"/>
              </a:rPr>
              <a:t>Convention Center sheltered up to 1,300 people.</a:t>
            </a:r>
          </a:p>
          <a:p>
            <a:pPr>
              <a:spcAft>
                <a:spcPts val="200"/>
              </a:spcAft>
            </a:pPr>
            <a:r>
              <a:rPr sz="950" b="1">
                <a:solidFill>
                  <a:srgbClr val="1D1F26"/>
                </a:solidFill>
                <a:latin typeface="Segoe UI"/>
              </a:rPr>
              <a:t>• Series Low Reached: </a:t>
            </a:r>
            <a:r>
              <a:rPr sz="900">
                <a:solidFill>
                  <a:srgbClr val="647491"/>
                </a:solidFill>
                <a:latin typeface="Segoe UI"/>
              </a:rPr>
              <a:t>Street counts dropped to 529 in March 2020 trough.</a:t>
            </a:r>
          </a:p>
          <a:p>
            <a:pPr>
              <a:spcAft>
                <a:spcPts val="200"/>
              </a:spcAft>
            </a:pPr>
            <a:r>
              <a:rPr sz="950" b="1">
                <a:solidFill>
                  <a:srgbClr val="1D1F26"/>
                </a:solidFill>
                <a:latin typeface="Segoe UI"/>
              </a:rPr>
              <a:t>• HUD Waiver: </a:t>
            </a:r>
            <a:r>
              <a:rPr sz="900">
                <a:solidFill>
                  <a:srgbClr val="647491"/>
                </a:solidFill>
                <a:latin typeface="Segoe UI"/>
              </a:rPr>
              <a:t>HUD granted count waivers in 2021; unsheltered census suspended.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3703320"/>
            <a:ext cx="5212080" cy="20116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DC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31520" y="3703320"/>
            <a:ext cx="5212080" cy="7315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813048"/>
            <a:ext cx="484632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D97706"/>
                </a:solidFill>
                <a:latin typeface="Trebuchet MS"/>
              </a:defRPr>
            </a:pPr>
            <a:r>
              <a:t>REGIME 3: CRISIS REBOUND &amp; SURGE (2021–2023)</a:t>
            </a:r>
          </a:p>
          <a:p>
            <a:pPr>
              <a:spcAft>
                <a:spcPts val="400"/>
              </a:spcAft>
              <a:defRPr sz="900" b="1">
                <a:solidFill>
                  <a:srgbClr val="647491"/>
                </a:solidFill>
                <a:latin typeface="Segoe UI"/>
              </a:defRPr>
            </a:pPr>
            <a:r>
              <a:t>Post-COVID economic shocks &amp; perimeter expansion</a:t>
            </a:r>
          </a:p>
          <a:p>
            <a:pPr>
              <a:spcAft>
                <a:spcPts val="200"/>
              </a:spcAft>
            </a:pPr>
            <a:r>
              <a:rPr sz="950" b="1">
                <a:solidFill>
                  <a:srgbClr val="1D1F26"/>
                </a:solidFill>
                <a:latin typeface="Segoe UI"/>
              </a:rPr>
              <a:t>• Convention Center Closes: </a:t>
            </a:r>
            <a:r>
              <a:rPr sz="900">
                <a:solidFill>
                  <a:srgbClr val="647491"/>
                </a:solidFill>
                <a:latin typeface="Segoe UI"/>
              </a:rPr>
              <a:t>People returned to streets as emergency beds ended.</a:t>
            </a:r>
          </a:p>
          <a:p>
            <a:pPr>
              <a:spcAft>
                <a:spcPts val="200"/>
              </a:spcAft>
            </a:pPr>
            <a:r>
              <a:rPr sz="950" b="1">
                <a:solidFill>
                  <a:srgbClr val="1D1F26"/>
                </a:solidFill>
                <a:latin typeface="Segoe UI"/>
              </a:rPr>
              <a:t>• Historical Peak: </a:t>
            </a:r>
            <a:r>
              <a:rPr sz="900">
                <a:solidFill>
                  <a:srgbClr val="647491"/>
                </a:solidFill>
                <a:latin typeface="Segoe UI"/>
              </a:rPr>
              <a:t>Count reached 2,103 in May 2023 (+297% from 2020 low).</a:t>
            </a:r>
          </a:p>
          <a:p>
            <a:pPr>
              <a:spcAft>
                <a:spcPts val="200"/>
              </a:spcAft>
            </a:pPr>
            <a:r>
              <a:rPr sz="950" b="1">
                <a:solidFill>
                  <a:srgbClr val="1D1F26"/>
                </a:solidFill>
                <a:latin typeface="Segoe UI"/>
              </a:rPr>
              <a:t>• Footprint Added: </a:t>
            </a:r>
            <a:r>
              <a:rPr sz="900">
                <a:solidFill>
                  <a:srgbClr val="647491"/>
                </a:solidFill>
                <a:latin typeface="Segoe UI"/>
              </a:rPr>
              <a:t>October 2022 added 121 blocks, adding 641 people in Jan 2023.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3703320"/>
            <a:ext cx="5212080" cy="20116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DC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17920" y="3703320"/>
            <a:ext cx="5212080" cy="7315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0" y="3813048"/>
            <a:ext cx="484632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059669"/>
                </a:solidFill>
                <a:latin typeface="Trebuchet MS"/>
              </a:defRPr>
            </a:pPr>
            <a:r>
              <a:t>REGIME 4: CAMPING ORDINANCE &amp; STABILIZATION (2024–2025)</a:t>
            </a:r>
          </a:p>
          <a:p>
            <a:pPr>
              <a:spcAft>
                <a:spcPts val="400"/>
              </a:spcAft>
              <a:defRPr sz="900" b="1">
                <a:solidFill>
                  <a:srgbClr val="647491"/>
                </a:solidFill>
                <a:latin typeface="Segoe UI"/>
              </a:defRPr>
            </a:pPr>
            <a:r>
              <a:t>Enforcement, Safe Sleeping sites &amp; displacement</a:t>
            </a:r>
          </a:p>
          <a:p>
            <a:pPr>
              <a:spcAft>
                <a:spcPts val="200"/>
              </a:spcAft>
            </a:pPr>
            <a:r>
              <a:rPr sz="950" b="1">
                <a:solidFill>
                  <a:srgbClr val="1D1F26"/>
                </a:solidFill>
                <a:latin typeface="Segoe UI"/>
              </a:rPr>
              <a:t>• Unsafe Camping Ordinance: </a:t>
            </a:r>
            <a:r>
              <a:rPr sz="900">
                <a:solidFill>
                  <a:srgbClr val="647491"/>
                </a:solidFill>
                <a:latin typeface="Segoe UI"/>
              </a:rPr>
              <a:t>Enforced July 2023; sidewalk tents prohibited.</a:t>
            </a:r>
          </a:p>
          <a:p>
            <a:pPr>
              <a:spcAft>
                <a:spcPts val="200"/>
              </a:spcAft>
            </a:pPr>
            <a:r>
              <a:rPr sz="950" b="1">
                <a:solidFill>
                  <a:srgbClr val="1D1F26"/>
                </a:solidFill>
                <a:latin typeface="Segoe UI"/>
              </a:rPr>
              <a:t>• Downtown Drops: </a:t>
            </a:r>
            <a:r>
              <a:rPr sz="900">
                <a:solidFill>
                  <a:srgbClr val="647491"/>
                </a:solidFill>
                <a:latin typeface="Segoe UI"/>
              </a:rPr>
              <a:t>Counts fell to 851 in Jan 2025 and 985 in Dec 2025.</a:t>
            </a:r>
          </a:p>
          <a:p>
            <a:pPr>
              <a:spcAft>
                <a:spcPts val="200"/>
              </a:spcAft>
            </a:pPr>
            <a:r>
              <a:rPr sz="950" b="1">
                <a:solidFill>
                  <a:srgbClr val="1D1F26"/>
                </a:solidFill>
                <a:latin typeface="Segoe UI"/>
              </a:rPr>
              <a:t>• Regional Divergence: </a:t>
            </a:r>
            <a:r>
              <a:rPr sz="900">
                <a:solidFill>
                  <a:srgbClr val="647491"/>
                </a:solidFill>
                <a:latin typeface="Segoe UI"/>
              </a:rPr>
              <a:t>County unsheltered rose to 6,110 (2024); displacement reality.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5806440"/>
            <a:ext cx="10728655" cy="457200"/>
          </a:xfrm>
          <a:prstGeom prst="roundRect">
            <a:avLst>
              <a:gd name="adj" fmla="val 2500"/>
            </a:avLst>
          </a:prstGeom>
          <a:solidFill>
            <a:srgbClr val="D3DFFF"/>
          </a:solidFill>
          <a:ln w="12700">
            <a:solidFill>
              <a:srgbClr val="3A5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1248" y="5879592"/>
            <a:ext cx="10509199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>
                <a:solidFill>
                  <a:srgbClr val="293E9C"/>
                </a:solidFill>
                <a:latin typeface="Segoe UI"/>
              </a:rPr>
              <a:t>Executive Insight: </a:t>
            </a:r>
            <a:r>
              <a:rPr sz="1000">
                <a:solidFill>
                  <a:srgbClr val="1D1F26"/>
                </a:solidFill>
                <a:latin typeface="Segoe UI"/>
              </a:rPr>
              <a:t>Macro policy interventions create immediate spatial displacement rather than net exits from homelessness. Enforcement in one zone redistributes individuals across municipal borders.</a:t>
            </a:r>
          </a:p>
        </p:txBody>
      </p:sp>
    </p:spTree>
  </p:cSld>
  <p:clrMapOvr>
    <a:masterClrMapping/>
  </p:clrMapOvr>
  <p:transition spd="med" advClick="1">
    <p:fade thruBlk="0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094415" y="0"/>
            <a:ext cx="1097280" cy="749808"/>
          </a:xfrm>
          <a:prstGeom prst="rect">
            <a:avLst/>
          </a:prstGeom>
          <a:solidFill>
            <a:srgbClr val="293E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FFFFFF"/>
                </a:solidFill>
                <a:latin typeface="Trebuchet MS"/>
              </a:defRPr>
            </a:pPr>
            <a:r>
              <a:t>06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384048"/>
            <a:ext cx="54864" cy="749808"/>
          </a:xfrm>
          <a:prstGeom prst="rect">
            <a:avLst/>
          </a:prstGeom>
          <a:solidFill>
            <a:srgbClr val="3A58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347472"/>
            <a:ext cx="9875520" cy="8412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3A58E4"/>
                </a:solidFill>
                <a:latin typeface="Segoe UI"/>
              </a:defRPr>
            </a:pPr>
            <a:r>
              <a:t>GEOSPATIAL CLUSTERING</a:t>
            </a:r>
          </a:p>
          <a:p>
            <a:pPr>
              <a:defRPr sz="2000" b="1">
                <a:solidFill>
                  <a:srgbClr val="293E9C"/>
                </a:solidFill>
                <a:latin typeface="Trebuchet MS"/>
              </a:defRPr>
            </a:pPr>
            <a:r>
              <a:t>Spatial Concentration: 54% East Village Core &amp; 120m SSE Migration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207008"/>
            <a:ext cx="10728655" cy="10972"/>
          </a:xfrm>
          <a:prstGeom prst="rect">
            <a:avLst/>
          </a:prstGeom>
          <a:solidFill>
            <a:srgbClr val="DCE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6309360"/>
            <a:ext cx="10728655" cy="10972"/>
          </a:xfrm>
          <a:prstGeom prst="rect">
            <a:avLst/>
          </a:prstGeom>
          <a:solidFill>
            <a:srgbClr val="DCE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382512"/>
            <a:ext cx="86868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647491"/>
                </a:solidFill>
                <a:latin typeface="Segoe UI"/>
              </a:defRPr>
            </a:pPr>
            <a:r>
              <a:t>Data Science Alliance • Downtown San Diego Homeless Population Analysis • Sources: DSDP Field Counts &amp; RTFH PIT Census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382512"/>
            <a:ext cx="18589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00" b="1">
                <a:solidFill>
                  <a:srgbClr val="293E9C"/>
                </a:solidFill>
                <a:latin typeface="Segoe UI"/>
              </a:defRPr>
            </a:pPr>
            <a:r>
              <a:t>Slide 06 of 12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371600"/>
            <a:ext cx="2057400" cy="1051560"/>
          </a:xfrm>
          <a:prstGeom prst="roundRect">
            <a:avLst>
              <a:gd name="adj" fmla="val 2500"/>
            </a:avLst>
          </a:prstGeom>
          <a:solidFill>
            <a:srgbClr val="293E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1426464"/>
            <a:ext cx="182880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FFFFF"/>
                </a:solidFill>
                <a:latin typeface="Trebuchet MS"/>
              </a:defRPr>
            </a:pPr>
            <a:r>
              <a:t>54.0%</a:t>
            </a:r>
          </a:p>
          <a:p>
            <a:pPr>
              <a:defRPr sz="819" b="1">
                <a:solidFill>
                  <a:srgbClr val="FFFFFF"/>
                </a:solidFill>
                <a:latin typeface="Segoe UI"/>
              </a:defRPr>
            </a:pPr>
            <a:r>
              <a:t>EAST VILLAGE SHARE</a:t>
            </a:r>
          </a:p>
          <a:p>
            <a:pPr>
              <a:defRPr sz="720">
                <a:solidFill>
                  <a:srgbClr val="9AADFF"/>
                </a:solidFill>
                <a:latin typeface="Segoe UI"/>
              </a:defRPr>
            </a:pPr>
            <a:r>
              <a:t>Consistently hosts over half of downtown total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80360" y="1371600"/>
            <a:ext cx="2057400" cy="1051560"/>
          </a:xfrm>
          <a:prstGeom prst="roundRect">
            <a:avLst>
              <a:gd name="adj" fmla="val 2500"/>
            </a:avLst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90088" y="1426464"/>
            <a:ext cx="182880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FFFFF"/>
                </a:solidFill>
                <a:latin typeface="Trebuchet MS"/>
              </a:defRPr>
            </a:pPr>
            <a:r>
              <a:t>120.4 m</a:t>
            </a:r>
          </a:p>
          <a:p>
            <a:pPr>
              <a:defRPr sz="819" b="1">
                <a:solidFill>
                  <a:srgbClr val="FFFFFF"/>
                </a:solidFill>
                <a:latin typeface="Segoe UI"/>
              </a:defRPr>
            </a:pPr>
            <a:r>
              <a:t>CENTROID MIGRATION</a:t>
            </a:r>
          </a:p>
          <a:p>
            <a:pPr>
              <a:defRPr sz="720">
                <a:solidFill>
                  <a:srgbClr val="D3DFFF"/>
                </a:solidFill>
                <a:latin typeface="Segoe UI"/>
              </a:defRPr>
            </a:pPr>
            <a:r>
              <a:t>Bearing 160.1° SSE toward Imperial Ave corridor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2560320"/>
            <a:ext cx="4206240" cy="36118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DC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68680" y="2697480"/>
            <a:ext cx="3931920" cy="868680"/>
          </a:xfrm>
          <a:prstGeom prst="roundRect">
            <a:avLst>
              <a:gd name="adj" fmla="val 2500"/>
            </a:avLst>
          </a:prstGeom>
          <a:solidFill>
            <a:srgbClr val="D3DFFF"/>
          </a:solidFill>
          <a:ln w="12700">
            <a:solidFill>
              <a:srgbClr val="3A5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78408" y="2770632"/>
            <a:ext cx="3712464" cy="7223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>
                <a:solidFill>
                  <a:srgbClr val="293E9C"/>
                </a:solidFill>
                <a:latin typeface="Segoe UI"/>
              </a:rPr>
              <a:t>Key Takeaway: </a:t>
            </a:r>
            <a:r>
              <a:rPr sz="1000">
                <a:solidFill>
                  <a:srgbClr val="1D1F26"/>
                </a:solidFill>
                <a:latin typeface="Segoe UI"/>
              </a:rPr>
              <a:t>Downtown homelessness is hyper-concentrated in East Village (54%), with the cluster centroid migrating 120m SSE toward Imperial Ave due to sidewalk enforcement.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703320"/>
            <a:ext cx="3931920" cy="23774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/>
          <a:p>
            <a:pPr>
              <a:spcAft>
                <a:spcPts val="400"/>
              </a:spcAft>
            </a:pPr>
            <a:r>
              <a:rPr sz="980" b="1">
                <a:solidFill>
                  <a:srgbClr val="3A58E4"/>
                </a:solidFill>
                <a:latin typeface="Segoe UI"/>
              </a:rPr>
              <a:t>• Hyper-Concentration: </a:t>
            </a:r>
            <a:r>
              <a:rPr sz="919">
                <a:solidFill>
                  <a:srgbClr val="1D1F26"/>
                </a:solidFill>
                <a:latin typeface="Segoe UI"/>
              </a:rPr>
              <a:t>East Village accounts for 54.0% of all downtown unsheltered individuals. City Center ranks second at ~18%.</a:t>
            </a:r>
          </a:p>
          <a:p>
            <a:pPr>
              <a:spcAft>
                <a:spcPts val="400"/>
              </a:spcAft>
            </a:pPr>
            <a:r>
              <a:rPr sz="980" b="1">
                <a:solidFill>
                  <a:srgbClr val="3A58E4"/>
                </a:solidFill>
                <a:latin typeface="Segoe UI"/>
              </a:rPr>
              <a:t>• 120m Centroid Shift: </a:t>
            </a:r>
            <a:r>
              <a:rPr sz="919">
                <a:solidFill>
                  <a:srgbClr val="1D1F26"/>
                </a:solidFill>
                <a:latin typeface="Segoe UI"/>
              </a:rPr>
              <a:t>Between 2018–2020 and 2022–2025, the weighted hotspot center shifted 120.4 meters SSE (160.1° bearing) toward Imperial Ave.</a:t>
            </a:r>
          </a:p>
          <a:p>
            <a:pPr>
              <a:spcAft>
                <a:spcPts val="400"/>
              </a:spcAft>
            </a:pPr>
            <a:r>
              <a:rPr sz="980" b="1">
                <a:solidFill>
                  <a:srgbClr val="3A58E4"/>
                </a:solidFill>
                <a:latin typeface="Segoe UI"/>
              </a:rPr>
              <a:t>• Top Persistent Hotspots: </a:t>
            </a:r>
            <a:r>
              <a:rPr sz="919">
                <a:solidFill>
                  <a:srgbClr val="1D1F26"/>
                </a:solidFill>
                <a:latin typeface="Segoe UI"/>
              </a:rPr>
              <a:t>100% of top 10 Getis-Ord Gi* clusters are in South East Village: 16th &amp; Imperial (9/12 dates), I-5 SB &amp; Imperial (8/12).</a:t>
            </a:r>
          </a:p>
          <a:p>
            <a:pPr>
              <a:spcAft>
                <a:spcPts val="400"/>
              </a:spcAft>
            </a:pPr>
            <a:r>
              <a:rPr sz="980" b="1">
                <a:solidFill>
                  <a:srgbClr val="3A58E4"/>
                </a:solidFill>
                <a:latin typeface="Segoe UI"/>
              </a:rPr>
              <a:t>• Outreach Focus (R1): </a:t>
            </a:r>
            <a:r>
              <a:rPr sz="919">
                <a:solidFill>
                  <a:srgbClr val="1D1F26"/>
                </a:solidFill>
                <a:latin typeface="Segoe UI"/>
              </a:rPr>
              <a:t>Target mobile hygiene, medical vans, and outreach teams at 16th-17th &amp; Imperial Ave corridor.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120640" y="1371600"/>
            <a:ext cx="6339535" cy="480060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DC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task93_hotspot_mig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800" y="2255596"/>
            <a:ext cx="6065215" cy="3032607"/>
          </a:xfrm>
          <a:prstGeom prst="rect">
            <a:avLst/>
          </a:prstGeom>
        </p:spPr>
      </p:pic>
    </p:spTree>
  </p:cSld>
  <p:clrMapOvr>
    <a:masterClrMapping/>
  </p:clrMapOvr>
  <p:transition spd="med" advClick="1">
    <p:fade thruBlk="0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094415" y="0"/>
            <a:ext cx="1097280" cy="749808"/>
          </a:xfrm>
          <a:prstGeom prst="rect">
            <a:avLst/>
          </a:prstGeom>
          <a:solidFill>
            <a:srgbClr val="293E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FFFFFF"/>
                </a:solidFill>
                <a:latin typeface="Trebuchet MS"/>
              </a:defRPr>
            </a:pPr>
            <a:r>
              <a:t>07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384048"/>
            <a:ext cx="54864" cy="749808"/>
          </a:xfrm>
          <a:prstGeom prst="rect">
            <a:avLst/>
          </a:prstGeom>
          <a:solidFill>
            <a:srgbClr val="3A58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347472"/>
            <a:ext cx="9875520" cy="8412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3A58E4"/>
                </a:solidFill>
                <a:latin typeface="Segoe UI"/>
              </a:defRPr>
            </a:pPr>
            <a:r>
              <a:t>PREDICTIVE INTELLIGENCE</a:t>
            </a:r>
          </a:p>
          <a:p>
            <a:pPr>
              <a:defRPr sz="2000" b="1">
                <a:solidFill>
                  <a:srgbClr val="293E9C"/>
                </a:solidFill>
                <a:latin typeface="Trebuchet MS"/>
              </a:defRPr>
            </a:pPr>
            <a:r>
              <a:t>Machine Learning: 5-Fold Cross-Validation Benchmark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207008"/>
            <a:ext cx="10728655" cy="10972"/>
          </a:xfrm>
          <a:prstGeom prst="rect">
            <a:avLst/>
          </a:prstGeom>
          <a:solidFill>
            <a:srgbClr val="DCE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6309360"/>
            <a:ext cx="10728655" cy="10972"/>
          </a:xfrm>
          <a:prstGeom prst="rect">
            <a:avLst/>
          </a:prstGeom>
          <a:solidFill>
            <a:srgbClr val="DCE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382512"/>
            <a:ext cx="86868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647491"/>
                </a:solidFill>
                <a:latin typeface="Segoe UI"/>
              </a:defRPr>
            </a:pPr>
            <a:r>
              <a:t>Data Science Alliance • Downtown San Diego Homeless Population Analysis • Sources: DSDP Field Counts &amp; RTFH PIT Census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382512"/>
            <a:ext cx="18589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00" b="1">
                <a:solidFill>
                  <a:srgbClr val="293E9C"/>
                </a:solidFill>
                <a:latin typeface="Segoe UI"/>
              </a:defRPr>
            </a:pPr>
            <a:r>
              <a:t>Slide 07 of 12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371600"/>
            <a:ext cx="6400800" cy="480060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DC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508760"/>
            <a:ext cx="60350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 b="1">
                <a:solidFill>
                  <a:srgbClr val="293E9C"/>
                </a:solidFill>
                <a:latin typeface="Trebuchet MS"/>
              </a:defRPr>
            </a:pPr>
            <a:r>
              <a:t>5-FOLD CROSS-VALIDATION ERROR COMPARISON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914400" y="2011680"/>
          <a:ext cx="603504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097280"/>
                <a:gridCol w="1097280"/>
                <a:gridCol w="1097280"/>
                <a:gridCol w="1097280"/>
              </a:tblGrid>
              <a:tr h="655320">
                <a:tc>
                  <a:txBody>
                    <a:bodyPr wrap="square" anchor="ctr"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Trebuchet MS"/>
                        </a:defRPr>
                      </a:pPr>
                      <a:r>
                        <a:t>Model Architecture</a:t>
                      </a:r>
                    </a:p>
                  </a:txBody>
                  <a:tcPr>
                    <a:solidFill>
                      <a:srgbClr val="293E9C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Trebuchet MS"/>
                        </a:defRPr>
                      </a:pPr>
                      <a:r>
                        <a:t>1-Month MAPE</a:t>
                      </a:r>
                    </a:p>
                  </a:txBody>
                  <a:tcPr>
                    <a:solidFill>
                      <a:srgbClr val="293E9C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Trebuchet MS"/>
                        </a:defRPr>
                      </a:pPr>
                      <a:r>
                        <a:t>3-Month MAPE</a:t>
                      </a:r>
                    </a:p>
                  </a:txBody>
                  <a:tcPr>
                    <a:solidFill>
                      <a:srgbClr val="293E9C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Trebuchet MS"/>
                        </a:defRPr>
                      </a:pPr>
                      <a:r>
                        <a:t>6-Month MAPE</a:t>
                      </a:r>
                    </a:p>
                  </a:txBody>
                  <a:tcPr>
                    <a:solidFill>
                      <a:srgbClr val="293E9C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Trebuchet MS"/>
                        </a:defRPr>
                      </a:pPr>
                      <a:r>
                        <a:t>12-Month CV MAPE</a:t>
                      </a:r>
                    </a:p>
                  </a:txBody>
                  <a:tcPr>
                    <a:solidFill>
                      <a:srgbClr val="293E9C"/>
                    </a:solidFill>
                  </a:tcPr>
                </a:tc>
              </a:tr>
              <a:tr h="655320">
                <a:tc>
                  <a:txBody>
                    <a:bodyPr wrap="square" anchor="ctr"/>
                    <a:lstStyle/>
                    <a:p>
                      <a:pPr algn="l">
                        <a:defRPr sz="950">
                          <a:solidFill>
                            <a:srgbClr val="1D1F26"/>
                          </a:solidFill>
                          <a:latin typeface="Segoe UI"/>
                        </a:defRPr>
                      </a:pPr>
                      <a:r>
                        <a:t>SARIMA (ACF/PACF Grid)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>
                        <a:defRPr sz="950">
                          <a:solidFill>
                            <a:srgbClr val="1D1F26"/>
                          </a:solidFill>
                          <a:latin typeface="Segoe UI"/>
                        </a:defRPr>
                      </a:pPr>
                      <a:r>
                        <a:t>5.4% ± 4.1%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>
                        <a:defRPr sz="950">
                          <a:solidFill>
                            <a:srgbClr val="1D1F26"/>
                          </a:solidFill>
                          <a:latin typeface="Segoe UI"/>
                        </a:defRPr>
                      </a:pPr>
                      <a:r>
                        <a:t>14.3% ± 10.3%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>
                        <a:defRPr sz="950">
                          <a:solidFill>
                            <a:srgbClr val="1D1F26"/>
                          </a:solidFill>
                          <a:latin typeface="Segoe UI"/>
                        </a:defRPr>
                      </a:pPr>
                      <a:r>
                        <a:t>24.7% ± 20.9%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>
                        <a:defRPr sz="950">
                          <a:solidFill>
                            <a:srgbClr val="1D1F26"/>
                          </a:solidFill>
                          <a:latin typeface="Segoe UI"/>
                        </a:defRPr>
                      </a:pPr>
                      <a:r>
                        <a:t>39.6% ± 35.5%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55320">
                <a:tc>
                  <a:txBody>
                    <a:bodyPr wrap="square" anchor="ctr"/>
                    <a:lstStyle/>
                    <a:p>
                      <a:pPr algn="l">
                        <a:defRPr sz="950">
                          <a:solidFill>
                            <a:srgbClr val="1D1F26"/>
                          </a:solidFill>
                          <a:latin typeface="Segoe UI"/>
                        </a:defRPr>
                      </a:pPr>
                      <a:r>
                        <a:t>Holt-Winters Exp Smooth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>
                        <a:defRPr sz="950">
                          <a:solidFill>
                            <a:srgbClr val="1D1F26"/>
                          </a:solidFill>
                          <a:latin typeface="Segoe UI"/>
                        </a:defRPr>
                      </a:pPr>
                      <a:r>
                        <a:t>13.0% ± 9.2%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>
                        <a:defRPr sz="950">
                          <a:solidFill>
                            <a:srgbClr val="1D1F26"/>
                          </a:solidFill>
                          <a:latin typeface="Segoe UI"/>
                        </a:defRPr>
                      </a:pPr>
                      <a:r>
                        <a:t>17.6% ± 10.4%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>
                        <a:defRPr sz="950">
                          <a:solidFill>
                            <a:srgbClr val="1D1F26"/>
                          </a:solidFill>
                          <a:latin typeface="Segoe UI"/>
                        </a:defRPr>
                      </a:pPr>
                      <a:r>
                        <a:t>25.2% ± 18.2%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>
                        <a:defRPr sz="950">
                          <a:solidFill>
                            <a:srgbClr val="1D1F26"/>
                          </a:solidFill>
                          <a:latin typeface="Segoe UI"/>
                        </a:defRPr>
                      </a:pPr>
                      <a:r>
                        <a:t>38.4% ± 28.5%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</a:tr>
              <a:tr h="655320">
                <a:tc>
                  <a:txBody>
                    <a:bodyPr wrap="square" anchor="ctr"/>
                    <a:lstStyle/>
                    <a:p>
                      <a:pPr algn="l">
                        <a:defRPr sz="950" b="1">
                          <a:solidFill>
                            <a:srgbClr val="3A58E4"/>
                          </a:solidFill>
                          <a:latin typeface="Segoe UI"/>
                        </a:defRPr>
                      </a:pPr>
                      <a:r>
                        <a:t>XGBoost (Champion)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>
                        <a:defRPr sz="950">
                          <a:solidFill>
                            <a:srgbClr val="1D1F26"/>
                          </a:solidFill>
                          <a:latin typeface="Segoe UI"/>
                        </a:defRPr>
                      </a:pPr>
                      <a:r>
                        <a:t>14.0% ± 8.9%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>
                        <a:defRPr sz="950">
                          <a:solidFill>
                            <a:srgbClr val="1D1F26"/>
                          </a:solidFill>
                          <a:latin typeface="Segoe UI"/>
                        </a:defRPr>
                      </a:pPr>
                      <a:r>
                        <a:t>19.9% ± 14.8%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>
                        <a:defRPr sz="950">
                          <a:solidFill>
                            <a:srgbClr val="1D1F26"/>
                          </a:solidFill>
                          <a:latin typeface="Segoe UI"/>
                        </a:defRPr>
                      </a:pPr>
                      <a:r>
                        <a:t>26.7% ± 18.5%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>
                        <a:defRPr sz="950">
                          <a:solidFill>
                            <a:srgbClr val="1D1F26"/>
                          </a:solidFill>
                          <a:latin typeface="Segoe UI"/>
                        </a:defRPr>
                      </a:pPr>
                      <a:r>
                        <a:t>38.3% ± 26.0%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55320">
                <a:tc>
                  <a:txBody>
                    <a:bodyPr wrap="square" anchor="ctr"/>
                    <a:lstStyle/>
                    <a:p>
                      <a:pPr algn="l">
                        <a:defRPr sz="950">
                          <a:solidFill>
                            <a:srgbClr val="1D1F26"/>
                          </a:solidFill>
                          <a:latin typeface="Segoe UI"/>
                        </a:defRPr>
                      </a:pPr>
                      <a:r>
                        <a:t>Naive Seasonal (t−12)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>
                        <a:defRPr sz="950">
                          <a:solidFill>
                            <a:srgbClr val="1D1F26"/>
                          </a:solidFill>
                          <a:latin typeface="Segoe UI"/>
                        </a:defRPr>
                      </a:pPr>
                      <a:r>
                        <a:t>39.5% ± 31.9%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>
                        <a:defRPr sz="950">
                          <a:solidFill>
                            <a:srgbClr val="1D1F26"/>
                          </a:solidFill>
                          <a:latin typeface="Segoe UI"/>
                        </a:defRPr>
                      </a:pPr>
                      <a:r>
                        <a:t>40.1% ± 31.3%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>
                        <a:defRPr sz="950">
                          <a:solidFill>
                            <a:srgbClr val="1D1F26"/>
                          </a:solidFill>
                          <a:latin typeface="Segoe UI"/>
                        </a:defRPr>
                      </a:pPr>
                      <a:r>
                        <a:t>48.5% ± 35.4%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>
                        <a:defRPr sz="950">
                          <a:solidFill>
                            <a:srgbClr val="1D1F26"/>
                          </a:solidFill>
                          <a:latin typeface="Segoe UI"/>
                        </a:defRPr>
                      </a:pPr>
                      <a:r>
                        <a:t>51.7% ± 24.5%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</a:tr>
              <a:tr h="655320">
                <a:tc>
                  <a:txBody>
                    <a:bodyPr wrap="square" anchor="ctr"/>
                    <a:lstStyle/>
                    <a:p>
                      <a:pPr algn="l">
                        <a:defRPr sz="950">
                          <a:solidFill>
                            <a:srgbClr val="1D1F26"/>
                          </a:solidFill>
                          <a:latin typeface="Segoe UI"/>
                        </a:defRPr>
                      </a:pPr>
                      <a:r>
                        <a:t>Prophet (Changepoints)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>
                        <a:defRPr sz="950">
                          <a:solidFill>
                            <a:srgbClr val="1D1F26"/>
                          </a:solidFill>
                          <a:latin typeface="Segoe UI"/>
                        </a:defRPr>
                      </a:pPr>
                      <a:r>
                        <a:t>42.9% ± 26.0%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>
                        <a:defRPr sz="950">
                          <a:solidFill>
                            <a:srgbClr val="1D1F26"/>
                          </a:solidFill>
                          <a:latin typeface="Segoe UI"/>
                        </a:defRPr>
                      </a:pPr>
                      <a:r>
                        <a:t>42.7% ± 26.0%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>
                        <a:defRPr sz="950">
                          <a:solidFill>
                            <a:srgbClr val="1D1F26"/>
                          </a:solidFill>
                          <a:latin typeface="Segoe UI"/>
                        </a:defRPr>
                      </a:pPr>
                      <a:r>
                        <a:t>51.3% ± 31.9%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>
                        <a:defRPr sz="950">
                          <a:solidFill>
                            <a:srgbClr val="1D1F26"/>
                          </a:solidFill>
                          <a:latin typeface="Segoe UI"/>
                        </a:defRPr>
                      </a:pPr>
                      <a:r>
                        <a:t>64.2% ± 35.4%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Rounded Rectangle 12"/>
          <p:cNvSpPr/>
          <p:nvPr/>
        </p:nvSpPr>
        <p:spPr>
          <a:xfrm>
            <a:off x="7315200" y="1371600"/>
            <a:ext cx="4144975" cy="480060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DC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498079" y="1554480"/>
            <a:ext cx="3779215" cy="1051560"/>
          </a:xfrm>
          <a:prstGeom prst="roundRect">
            <a:avLst>
              <a:gd name="adj" fmla="val 2500"/>
            </a:avLst>
          </a:prstGeom>
          <a:solidFill>
            <a:srgbClr val="D3DFFF"/>
          </a:solidFill>
          <a:ln w="12700">
            <a:solidFill>
              <a:srgbClr val="3A5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7807" y="1627632"/>
            <a:ext cx="3559759" cy="9052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>
                <a:solidFill>
                  <a:srgbClr val="293E9C"/>
                </a:solidFill>
                <a:latin typeface="Segoe UI"/>
              </a:rPr>
              <a:t>Production Winner: </a:t>
            </a:r>
            <a:r>
              <a:rPr sz="1000">
                <a:solidFill>
                  <a:srgbClr val="1D1F26"/>
                </a:solidFill>
                <a:latin typeface="Segoe UI"/>
              </a:rPr>
              <a:t>XGBoost is our champion production model with 38.3% 12-month CV MAPE and 8.5% 2025 hold-out error, outperforming Prophet by over 25 percentage points.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79" y="2743200"/>
            <a:ext cx="3779215" cy="3200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/>
          <a:p>
            <a:pPr>
              <a:spcAft>
                <a:spcPts val="500"/>
              </a:spcAft>
            </a:pPr>
            <a:r>
              <a:rPr sz="1000" b="1">
                <a:solidFill>
                  <a:srgbClr val="3A58E4"/>
                </a:solidFill>
                <a:latin typeface="Segoe UI"/>
              </a:rPr>
              <a:t>• Short vs Long Horizons: </a:t>
            </a:r>
            <a:r>
              <a:rPr sz="950">
                <a:solidFill>
                  <a:srgbClr val="1D1F26"/>
                </a:solidFill>
                <a:latin typeface="Segoe UI"/>
              </a:rPr>
              <a:t>SARIMA leads at 1-month (5.4% MAPE); XGBoost matches Holt-Winters at 12-months (38.3%) while exhibiting tighter variance.</a:t>
            </a:r>
          </a:p>
          <a:p>
            <a:pPr>
              <a:spcAft>
                <a:spcPts val="500"/>
              </a:spcAft>
            </a:pPr>
            <a:r>
              <a:rPr sz="1000" b="1">
                <a:solidFill>
                  <a:srgbClr val="3A58E4"/>
                </a:solidFill>
                <a:latin typeface="Segoe UI"/>
              </a:rPr>
              <a:t>• Hold-Out Validation: </a:t>
            </a:r>
            <a:r>
              <a:rPr sz="950">
                <a:solidFill>
                  <a:srgbClr val="1D1F26"/>
                </a:solidFill>
                <a:latin typeface="Segoe UI"/>
              </a:rPr>
              <a:t>On 2025 out-of-time hold-out months, XGBoost achieved 8.5% error, confirming robust generalization under policy shifts.</a:t>
            </a:r>
          </a:p>
          <a:p>
            <a:pPr>
              <a:spcAft>
                <a:spcPts val="500"/>
              </a:spcAft>
            </a:pPr>
            <a:r>
              <a:rPr sz="1000" b="1">
                <a:solidFill>
                  <a:srgbClr val="3A58E4"/>
                </a:solidFill>
                <a:latin typeface="Segoe UI"/>
              </a:rPr>
              <a:t>• Prophet Vulnerability: </a:t>
            </a:r>
            <a:r>
              <a:rPr sz="950">
                <a:solidFill>
                  <a:srgbClr val="1D1F26"/>
                </a:solidFill>
                <a:latin typeface="Segoe UI"/>
              </a:rPr>
              <a:t>Prophet failed severely (64.2% MAPE) because automated linear changepoints missed the steep post-ordinance drop.</a:t>
            </a:r>
          </a:p>
          <a:p>
            <a:pPr>
              <a:spcAft>
                <a:spcPts val="500"/>
              </a:spcAft>
            </a:pPr>
            <a:r>
              <a:rPr sz="1000" b="1">
                <a:solidFill>
                  <a:srgbClr val="3A58E4"/>
                </a:solidFill>
                <a:latin typeface="Segoe UI"/>
              </a:rPr>
              <a:t>• Deployment Pipeline: </a:t>
            </a:r>
            <a:r>
              <a:rPr sz="950">
                <a:solidFill>
                  <a:srgbClr val="1D1F26"/>
                </a:solidFill>
                <a:latin typeface="Segoe UI"/>
              </a:rPr>
              <a:t>XGBoost embedded into Tab 2 of Streamlit application with automatic quarterly retraining cues.</a:t>
            </a:r>
          </a:p>
        </p:txBody>
      </p:sp>
    </p:spTree>
  </p:cSld>
  <p:clrMapOvr>
    <a:masterClrMapping/>
  </p:clrMapOvr>
  <p:transition spd="med" advClick="1">
    <p:fade thruBlk="0"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094415" y="0"/>
            <a:ext cx="1097280" cy="749808"/>
          </a:xfrm>
          <a:prstGeom prst="rect">
            <a:avLst/>
          </a:prstGeom>
          <a:solidFill>
            <a:srgbClr val="293E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FFFFFF"/>
                </a:solidFill>
                <a:latin typeface="Trebuchet MS"/>
              </a:defRPr>
            </a:pPr>
            <a:r>
              <a:t>08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384048"/>
            <a:ext cx="54864" cy="749808"/>
          </a:xfrm>
          <a:prstGeom prst="rect">
            <a:avLst/>
          </a:prstGeom>
          <a:solidFill>
            <a:srgbClr val="3A58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347472"/>
            <a:ext cx="9875520" cy="8412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3A58E4"/>
                </a:solidFill>
                <a:latin typeface="Segoe UI"/>
              </a:defRPr>
            </a:pPr>
            <a:r>
              <a:t>PROSPECTIVE FORECASTING</a:t>
            </a:r>
          </a:p>
          <a:p>
            <a:pPr>
              <a:defRPr sz="2000" b="1">
                <a:solidFill>
                  <a:srgbClr val="293E9C"/>
                </a:solidFill>
                <a:latin typeface="Trebuchet MS"/>
              </a:defRPr>
            </a:pPr>
            <a:r>
              <a:t>2026 Forward Outlook: 12-Month Projections &amp; Stress Scenarios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207008"/>
            <a:ext cx="10728655" cy="10972"/>
          </a:xfrm>
          <a:prstGeom prst="rect">
            <a:avLst/>
          </a:prstGeom>
          <a:solidFill>
            <a:srgbClr val="DCE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6309360"/>
            <a:ext cx="10728655" cy="10972"/>
          </a:xfrm>
          <a:prstGeom prst="rect">
            <a:avLst/>
          </a:prstGeom>
          <a:solidFill>
            <a:srgbClr val="DCE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382512"/>
            <a:ext cx="86868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647491"/>
                </a:solidFill>
                <a:latin typeface="Segoe UI"/>
              </a:defRPr>
            </a:pPr>
            <a:r>
              <a:t>Data Science Alliance • Downtown San Diego Homeless Population Analysis • Sources: DSDP Field Counts &amp; RTFH PIT Census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382512"/>
            <a:ext cx="18589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00" b="1">
                <a:solidFill>
                  <a:srgbClr val="293E9C"/>
                </a:solidFill>
                <a:latin typeface="Segoe UI"/>
              </a:defRPr>
            </a:pPr>
            <a:r>
              <a:t>Slide 08 of 12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371600"/>
            <a:ext cx="1325880" cy="1051560"/>
          </a:xfrm>
          <a:prstGeom prst="roundRect">
            <a:avLst>
              <a:gd name="adj" fmla="val 2500"/>
            </a:avLst>
          </a:prstGeom>
          <a:solidFill>
            <a:srgbClr val="293E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1426464"/>
            <a:ext cx="118872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800" b="1">
                <a:solidFill>
                  <a:srgbClr val="FFFFFF"/>
                </a:solidFill>
                <a:latin typeface="Trebuchet MS"/>
              </a:defRPr>
            </a:pPr>
            <a:r>
              <a:t>816–896</a:t>
            </a:r>
          </a:p>
          <a:p>
            <a:pPr>
              <a:defRPr sz="800" b="1">
                <a:solidFill>
                  <a:srgbClr val="FFFFFF"/>
                </a:solidFill>
                <a:latin typeface="Segoe UI"/>
              </a:defRPr>
            </a:pPr>
            <a:r>
              <a:t>BASELINE FORECAST</a:t>
            </a:r>
          </a:p>
          <a:p>
            <a:pPr>
              <a:defRPr sz="720">
                <a:solidFill>
                  <a:srgbClr val="9AADFF"/>
                </a:solidFill>
                <a:latin typeface="Segoe UI"/>
              </a:defRPr>
            </a:pPr>
            <a:r>
              <a:t>Expected monthly range throughout 2026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148840" y="1371600"/>
            <a:ext cx="1325880" cy="1051560"/>
          </a:xfrm>
          <a:prstGeom prst="roundRect">
            <a:avLst>
              <a:gd name="adj" fmla="val 2500"/>
            </a:avLst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21992" y="1426464"/>
            <a:ext cx="118872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800" b="1">
                <a:solidFill>
                  <a:srgbClr val="FFFFFF"/>
                </a:solidFill>
                <a:latin typeface="Trebuchet MS"/>
              </a:defRPr>
            </a:pPr>
            <a:r>
              <a:t>~675</a:t>
            </a:r>
          </a:p>
          <a:p>
            <a:pPr>
              <a:defRPr sz="800" b="1">
                <a:solidFill>
                  <a:srgbClr val="FFFFFF"/>
                </a:solidFill>
                <a:latin typeface="Segoe UI"/>
              </a:defRPr>
            </a:pPr>
            <a:r>
              <a:t>OPTIMISTIC SCENARIO</a:t>
            </a:r>
          </a:p>
          <a:p>
            <a:pPr>
              <a:defRPr sz="720">
                <a:solidFill>
                  <a:srgbClr val="D3DFFF"/>
                </a:solidFill>
                <a:latin typeface="Segoe UI"/>
              </a:defRPr>
            </a:pPr>
            <a:r>
              <a:t>−24% under accelerated housing exits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66160" y="1371600"/>
            <a:ext cx="1325880" cy="1051560"/>
          </a:xfrm>
          <a:prstGeom prst="roundRect">
            <a:avLst>
              <a:gd name="adj" fmla="val 2500"/>
            </a:avLst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39312" y="1426464"/>
            <a:ext cx="118872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800" b="1">
                <a:solidFill>
                  <a:srgbClr val="FFFFFF"/>
                </a:solidFill>
                <a:latin typeface="Trebuchet MS"/>
              </a:defRPr>
            </a:pPr>
            <a:r>
              <a:t>~1,123</a:t>
            </a:r>
          </a:p>
          <a:p>
            <a:pPr>
              <a:defRPr sz="800" b="1">
                <a:solidFill>
                  <a:srgbClr val="FFFFFF"/>
                </a:solidFill>
                <a:latin typeface="Segoe UI"/>
              </a:defRPr>
            </a:pPr>
            <a:r>
              <a:t>PESSIMISTIC SCENARIO</a:t>
            </a:r>
          </a:p>
          <a:p>
            <a:pPr>
              <a:defRPr sz="720">
                <a:solidFill>
                  <a:srgbClr val="D3DFFF"/>
                </a:solidFill>
                <a:latin typeface="Segoe UI"/>
              </a:defRPr>
            </a:pPr>
            <a:r>
              <a:t>+26% under shelter capacity contraction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2560320"/>
            <a:ext cx="4206240" cy="36118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DC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68680" y="2697480"/>
            <a:ext cx="3931920" cy="868680"/>
          </a:xfrm>
          <a:prstGeom prst="roundRect">
            <a:avLst>
              <a:gd name="adj" fmla="val 2500"/>
            </a:avLst>
          </a:prstGeom>
          <a:solidFill>
            <a:srgbClr val="D3DFFF"/>
          </a:solidFill>
          <a:ln w="12700">
            <a:solidFill>
              <a:srgbClr val="3A5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78408" y="2770632"/>
            <a:ext cx="3712464" cy="7223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>
                <a:solidFill>
                  <a:srgbClr val="293E9C"/>
                </a:solidFill>
                <a:latin typeface="Segoe UI"/>
              </a:rPr>
              <a:t>Key Takeaway: </a:t>
            </a:r>
            <a:r>
              <a:rPr sz="1000">
                <a:solidFill>
                  <a:srgbClr val="1D1F26"/>
                </a:solidFill>
                <a:latin typeface="Segoe UI"/>
              </a:rPr>
              <a:t>Baseline 2026 forecast projects Downtown unsheltered counts to remain range-bound at 816–896 individuals, but city leaders must budget for the 675–1,123 stress-test envelope.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3703320"/>
            <a:ext cx="3931920" cy="23774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/>
          <a:p>
            <a:pPr>
              <a:spcAft>
                <a:spcPts val="400"/>
              </a:spcAft>
            </a:pPr>
            <a:r>
              <a:rPr sz="980" b="1">
                <a:solidFill>
                  <a:srgbClr val="3A58E4"/>
                </a:solidFill>
                <a:latin typeface="Segoe UI"/>
              </a:rPr>
              <a:t>• Stable Baseline: </a:t>
            </a:r>
            <a:r>
              <a:rPr sz="919">
                <a:solidFill>
                  <a:srgbClr val="1D1F26"/>
                </a:solidFill>
                <a:latin typeface="Segoe UI"/>
              </a:rPr>
              <a:t>Under current enforcement, downtown counts remain flat at ~850 individuals throughout 2026 (Nov peak: 896; Dec M12: 888).</a:t>
            </a:r>
          </a:p>
          <a:p>
            <a:pPr>
              <a:spcAft>
                <a:spcPts val="400"/>
              </a:spcAft>
            </a:pPr>
            <a:r>
              <a:rPr sz="980" b="1">
                <a:solidFill>
                  <a:srgbClr val="3A58E4"/>
                </a:solidFill>
                <a:latin typeface="Segoe UI"/>
              </a:rPr>
              <a:t>• Stress-Test Envelope: </a:t>
            </a:r>
            <a:r>
              <a:rPr sz="919">
                <a:solidFill>
                  <a:srgbClr val="1D1F26"/>
                </a:solidFill>
                <a:latin typeface="Segoe UI"/>
              </a:rPr>
              <a:t>Optimistic (~675, −24%) and Pessimistic (~1,123, +26%) scenarios model plausible policy and economic variations.</a:t>
            </a:r>
          </a:p>
          <a:p>
            <a:pPr>
              <a:spcAft>
                <a:spcPts val="400"/>
              </a:spcAft>
            </a:pPr>
            <a:r>
              <a:rPr sz="980" b="1">
                <a:solidFill>
                  <a:srgbClr val="3A58E4"/>
                </a:solidFill>
                <a:latin typeface="Segoe UI"/>
              </a:rPr>
              <a:t>• Uncertainty Bounds: </a:t>
            </a:r>
            <a:r>
              <a:rPr sz="919">
                <a:solidFill>
                  <a:srgbClr val="1D1F26"/>
                </a:solidFill>
                <a:latin typeface="Segoe UI"/>
              </a:rPr>
              <a:t>80% PI [660–1,116] and 95% PI [539–1,237] at M12 account for residual volatility and seasonal swings.</a:t>
            </a:r>
          </a:p>
          <a:p>
            <a:pPr>
              <a:spcAft>
                <a:spcPts val="400"/>
              </a:spcAft>
            </a:pPr>
            <a:r>
              <a:rPr sz="980" b="1">
                <a:solidFill>
                  <a:srgbClr val="3A58E4"/>
                </a:solidFill>
                <a:latin typeface="Segoe UI"/>
              </a:rPr>
              <a:t>• Budget Directive (R2): </a:t>
            </a:r>
            <a:r>
              <a:rPr sz="919">
                <a:solidFill>
                  <a:srgbClr val="1D1F26"/>
                </a:solidFill>
                <a:latin typeface="Segoe UI"/>
              </a:rPr>
              <a:t>Municipal budgets must plan across the 675–1,123 envelope rather than relying on a single static number.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120640" y="1371600"/>
            <a:ext cx="6339535" cy="480060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DC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task93_forecast_20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800" y="2255596"/>
            <a:ext cx="6065215" cy="3032607"/>
          </a:xfrm>
          <a:prstGeom prst="rect">
            <a:avLst/>
          </a:prstGeom>
        </p:spPr>
      </p:pic>
    </p:spTree>
  </p:cSld>
  <p:clrMapOvr>
    <a:masterClrMapping/>
  </p:clrMapOvr>
  <p:transition spd="med" advClick="1">
    <p:fade thruBlk="0"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094415" y="0"/>
            <a:ext cx="1097280" cy="749808"/>
          </a:xfrm>
          <a:prstGeom prst="rect">
            <a:avLst/>
          </a:prstGeom>
          <a:solidFill>
            <a:srgbClr val="293E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FFFFFF"/>
                </a:solidFill>
                <a:latin typeface="Trebuchet MS"/>
              </a:defRPr>
            </a:pPr>
            <a:r>
              <a:t>09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384048"/>
            <a:ext cx="54864" cy="749808"/>
          </a:xfrm>
          <a:prstGeom prst="rect">
            <a:avLst/>
          </a:prstGeom>
          <a:solidFill>
            <a:srgbClr val="3A58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347472"/>
            <a:ext cx="9875520" cy="8412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3A58E4"/>
                </a:solidFill>
                <a:latin typeface="Segoe UI"/>
              </a:defRPr>
            </a:pPr>
            <a:r>
              <a:t>REGIONAL POLICY DYNAMICS</a:t>
            </a:r>
          </a:p>
          <a:p>
            <a:pPr>
              <a:defRPr sz="2000" b="1">
                <a:solidFill>
                  <a:srgbClr val="293E9C"/>
                </a:solidFill>
                <a:latin typeface="Trebuchet MS"/>
              </a:defRPr>
            </a:pPr>
            <a:r>
              <a:t>Regional Divergence: Downtown Drops vs Countywide Unsheltered Highs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207008"/>
            <a:ext cx="10728655" cy="10972"/>
          </a:xfrm>
          <a:prstGeom prst="rect">
            <a:avLst/>
          </a:prstGeom>
          <a:solidFill>
            <a:srgbClr val="DCE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6309360"/>
            <a:ext cx="10728655" cy="10972"/>
          </a:xfrm>
          <a:prstGeom prst="rect">
            <a:avLst/>
          </a:prstGeom>
          <a:solidFill>
            <a:srgbClr val="DCE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382512"/>
            <a:ext cx="86868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647491"/>
                </a:solidFill>
                <a:latin typeface="Segoe UI"/>
              </a:defRPr>
            </a:pPr>
            <a:r>
              <a:t>Data Science Alliance • Downtown San Diego Homeless Population Analysis • Sources: DSDP Field Counts &amp; RTFH PIT Census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382512"/>
            <a:ext cx="18589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00" b="1">
                <a:solidFill>
                  <a:srgbClr val="293E9C"/>
                </a:solidFill>
                <a:latin typeface="Segoe UI"/>
              </a:defRPr>
            </a:pPr>
            <a:r>
              <a:t>Slide 09 of 12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371600"/>
            <a:ext cx="1325880" cy="1051560"/>
          </a:xfrm>
          <a:prstGeom prst="roundRect">
            <a:avLst>
              <a:gd name="adj" fmla="val 2500"/>
            </a:avLst>
          </a:prstGeom>
          <a:solidFill>
            <a:srgbClr val="293E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1426464"/>
            <a:ext cx="118872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900" b="1">
                <a:solidFill>
                  <a:srgbClr val="FFFFFF"/>
                </a:solidFill>
                <a:latin typeface="Trebuchet MS"/>
              </a:defRPr>
            </a:pPr>
            <a:r>
              <a:t>14.9%</a:t>
            </a:r>
          </a:p>
          <a:p>
            <a:pPr>
              <a:defRPr sz="800" b="1">
                <a:solidFill>
                  <a:srgbClr val="FFFFFF"/>
                </a:solidFill>
                <a:latin typeface="Segoe UI"/>
              </a:defRPr>
            </a:pPr>
            <a:r>
              <a:t>DOWNTOWN SHARE</a:t>
            </a:r>
          </a:p>
          <a:p>
            <a:pPr>
              <a:defRPr sz="720">
                <a:solidFill>
                  <a:srgbClr val="9AADFF"/>
                </a:solidFill>
                <a:latin typeface="Segoe UI"/>
              </a:defRPr>
            </a:pPr>
            <a:r>
              <a:t>Fell from 37.5% peak in 2023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148840" y="1371600"/>
            <a:ext cx="1325880" cy="1051560"/>
          </a:xfrm>
          <a:prstGeom prst="roundRect">
            <a:avLst>
              <a:gd name="adj" fmla="val 2500"/>
            </a:avLst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21992" y="1426464"/>
            <a:ext cx="118872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900" b="1">
                <a:solidFill>
                  <a:srgbClr val="FFFFFF"/>
                </a:solidFill>
                <a:latin typeface="Trebuchet MS"/>
              </a:defRPr>
            </a:pPr>
            <a:r>
              <a:t>6,110</a:t>
            </a:r>
          </a:p>
          <a:p>
            <a:pPr>
              <a:defRPr sz="800" b="1">
                <a:solidFill>
                  <a:srgbClr val="FFFFFF"/>
                </a:solidFill>
                <a:latin typeface="Segoe UI"/>
              </a:defRPr>
            </a:pPr>
            <a:r>
              <a:t>COUNTY PEAK (2024)</a:t>
            </a:r>
          </a:p>
          <a:p>
            <a:pPr>
              <a:defRPr sz="720">
                <a:solidFill>
                  <a:srgbClr val="D3DFFF"/>
                </a:solidFill>
                <a:latin typeface="Segoe UI"/>
              </a:defRPr>
            </a:pPr>
            <a:r>
              <a:t>All-time series record unsheltered count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66160" y="1371600"/>
            <a:ext cx="1325880" cy="105156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DC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39312" y="1426464"/>
            <a:ext cx="118872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900" b="1">
                <a:solidFill>
                  <a:srgbClr val="293E9C"/>
                </a:solidFill>
                <a:latin typeface="Trebuchet MS"/>
              </a:defRPr>
            </a:pPr>
            <a:r>
              <a:t>5,714</a:t>
            </a:r>
          </a:p>
          <a:p>
            <a:pPr>
              <a:defRPr sz="800" b="1">
                <a:solidFill>
                  <a:srgbClr val="293E9C"/>
                </a:solidFill>
                <a:latin typeface="Segoe UI"/>
              </a:defRPr>
            </a:pPr>
            <a:r>
              <a:t>COUNTY PIT (2025)</a:t>
            </a:r>
          </a:p>
          <a:p>
            <a:pPr>
              <a:defRPr sz="720">
                <a:solidFill>
                  <a:srgbClr val="647491"/>
                </a:solidFill>
                <a:latin typeface="Segoe UI"/>
              </a:defRPr>
            </a:pPr>
            <a:r>
              <a:t>High regional baseline remains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2560320"/>
            <a:ext cx="4206240" cy="36118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DC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68680" y="2697480"/>
            <a:ext cx="3931920" cy="868680"/>
          </a:xfrm>
          <a:prstGeom prst="roundRect">
            <a:avLst>
              <a:gd name="adj" fmla="val 2500"/>
            </a:avLst>
          </a:prstGeom>
          <a:solidFill>
            <a:srgbClr val="D3DFFF"/>
          </a:solidFill>
          <a:ln w="12700">
            <a:solidFill>
              <a:srgbClr val="3A5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78408" y="2770632"/>
            <a:ext cx="3712464" cy="7223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>
                <a:solidFill>
                  <a:srgbClr val="293E9C"/>
                </a:solidFill>
                <a:latin typeface="Segoe UI"/>
              </a:rPr>
              <a:t>Key Takeaway: </a:t>
            </a:r>
            <a:r>
              <a:rPr sz="1000">
                <a:solidFill>
                  <a:srgbClr val="1D1F26"/>
                </a:solidFill>
                <a:latin typeface="Segoe UI"/>
              </a:rPr>
              <a:t>Downtown counts dropped 56%, but County unsheltered hit an all-time record of 6,110—proving Downtown enforcement displaced people into surrounding jurisdictions.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3703320"/>
            <a:ext cx="3931920" cy="23774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/>
          <a:p>
            <a:pPr>
              <a:spcAft>
                <a:spcPts val="400"/>
              </a:spcAft>
            </a:pPr>
            <a:r>
              <a:rPr sz="980" b="1">
                <a:solidFill>
                  <a:srgbClr val="3A58E4"/>
                </a:solidFill>
                <a:latin typeface="Segoe UI"/>
              </a:rPr>
              <a:t>• The Regional Paradox: </a:t>
            </a:r>
            <a:r>
              <a:rPr sz="919">
                <a:solidFill>
                  <a:srgbClr val="1D1F26"/>
                </a:solidFill>
                <a:latin typeface="Segoe UI"/>
              </a:rPr>
              <a:t>Downtown Jan count plunged from 1,939 to 851 (−56%), yet countywide unsheltered homelessness reached historical record highs (6,110 in 2024, 5,714 in 2025).</a:t>
            </a:r>
          </a:p>
          <a:p>
            <a:pPr>
              <a:spcAft>
                <a:spcPts val="400"/>
              </a:spcAft>
            </a:pPr>
            <a:r>
              <a:rPr sz="980" b="1">
                <a:solidFill>
                  <a:srgbClr val="3A58E4"/>
                </a:solidFill>
                <a:latin typeface="Segoe UI"/>
              </a:rPr>
              <a:t>• Share Collapse: </a:t>
            </a:r>
            <a:r>
              <a:rPr sz="919">
                <a:solidFill>
                  <a:srgbClr val="1D1F26"/>
                </a:solidFill>
                <a:latin typeface="Segoe UI"/>
              </a:rPr>
              <a:t>Downtown's share of county unsheltered collapsed from 37.5% in 2023 to 14.9% in 2025.</a:t>
            </a:r>
          </a:p>
          <a:p>
            <a:pPr>
              <a:spcAft>
                <a:spcPts val="400"/>
              </a:spcAft>
            </a:pPr>
            <a:r>
              <a:rPr sz="980" b="1">
                <a:solidFill>
                  <a:srgbClr val="3A58E4"/>
                </a:solidFill>
                <a:latin typeface="Segoe UI"/>
              </a:rPr>
              <a:t>• Displacement Dynamics: </a:t>
            </a:r>
            <a:r>
              <a:rPr sz="919">
                <a:solidFill>
                  <a:srgbClr val="1D1F26"/>
                </a:solidFill>
                <a:latin typeface="Segoe UI"/>
              </a:rPr>
              <a:t>Sidewalk clearance displaced encampments along trolley corridors, canyon edges, and into neighbouring East/South County jurisdictions.</a:t>
            </a:r>
          </a:p>
          <a:p>
            <a:pPr>
              <a:spcAft>
                <a:spcPts val="400"/>
              </a:spcAft>
            </a:pPr>
            <a:r>
              <a:rPr sz="980" b="1">
                <a:solidFill>
                  <a:srgbClr val="3A58E4"/>
                </a:solidFill>
                <a:latin typeface="Segoe UI"/>
              </a:rPr>
              <a:t>• Evaluation Caveat: </a:t>
            </a:r>
            <a:r>
              <a:rPr sz="919">
                <a:solidFill>
                  <a:srgbClr val="1D1F26"/>
                </a:solidFill>
                <a:latin typeface="Segoe UI"/>
              </a:rPr>
              <a:t>Macro divergence is proven by paired data; tracking individual migration requires unified HMIS data linkage (R5).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120640" y="1371600"/>
            <a:ext cx="6339535" cy="480060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DC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task93_regional_diverg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800" y="2255596"/>
            <a:ext cx="6065215" cy="3032607"/>
          </a:xfrm>
          <a:prstGeom prst="rect">
            <a:avLst/>
          </a:prstGeom>
        </p:spPr>
      </p:pic>
    </p:spTree>
  </p:cSld>
  <p:clrMapOvr>
    <a:masterClrMapping/>
  </p:clrMapOvr>
  <p:transition spd="med" advClick="1">
    <p:fade thruBlk="0"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094415" y="0"/>
            <a:ext cx="1097280" cy="749808"/>
          </a:xfrm>
          <a:prstGeom prst="rect">
            <a:avLst/>
          </a:prstGeom>
          <a:solidFill>
            <a:srgbClr val="293E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FFFFFF"/>
                </a:solidFill>
                <a:latin typeface="Trebuchet MS"/>
              </a:defRPr>
            </a:pPr>
            <a:r>
              <a:t>10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384048"/>
            <a:ext cx="54864" cy="749808"/>
          </a:xfrm>
          <a:prstGeom prst="rect">
            <a:avLst/>
          </a:prstGeom>
          <a:solidFill>
            <a:srgbClr val="3A58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347472"/>
            <a:ext cx="9875520" cy="8412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3A58E4"/>
                </a:solidFill>
                <a:latin typeface="Segoe UI"/>
              </a:defRPr>
            </a:pPr>
            <a:r>
              <a:t>MACRO ECONOMETRICS &amp; GOVERNANCE</a:t>
            </a:r>
          </a:p>
          <a:p>
            <a:pPr>
              <a:defRPr sz="2000" b="1">
                <a:solidFill>
                  <a:srgbClr val="293E9C"/>
                </a:solidFill>
                <a:latin typeface="Trebuchet MS"/>
              </a:defRPr>
            </a:pPr>
            <a:r>
              <a:t>Macro Econometric Model &amp; The 4 Public Communication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207008"/>
            <a:ext cx="10728655" cy="10972"/>
          </a:xfrm>
          <a:prstGeom prst="rect">
            <a:avLst/>
          </a:prstGeom>
          <a:solidFill>
            <a:srgbClr val="DCE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6309360"/>
            <a:ext cx="10728655" cy="10972"/>
          </a:xfrm>
          <a:prstGeom prst="rect">
            <a:avLst/>
          </a:prstGeom>
          <a:solidFill>
            <a:srgbClr val="DCE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382512"/>
            <a:ext cx="86868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647491"/>
                </a:solidFill>
                <a:latin typeface="Segoe UI"/>
              </a:defRPr>
            </a:pPr>
            <a:r>
              <a:t>Data Science Alliance • Downtown San Diego Homeless Population Analysis • Sources: DSDP Field Counts &amp; RTFH PIT Census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382512"/>
            <a:ext cx="18589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00" b="1">
                <a:solidFill>
                  <a:srgbClr val="293E9C"/>
                </a:solidFill>
                <a:latin typeface="Segoe UI"/>
              </a:defRPr>
            </a:pPr>
            <a:r>
              <a:t>Slide 10 of 12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371600"/>
            <a:ext cx="4389120" cy="480060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DC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508760"/>
            <a:ext cx="4023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DC2626"/>
                </a:solidFill>
                <a:latin typeface="Trebuchet MS"/>
              </a:defRPr>
            </a:pPr>
            <a:r>
              <a:t>THE 4 MANDATORY PUBLIC COMMUNICATION RULES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1920240"/>
            <a:ext cx="4023360" cy="932688"/>
          </a:xfrm>
          <a:prstGeom prst="roundRect">
            <a:avLst>
              <a:gd name="adj" fmla="val 2500"/>
            </a:avLst>
          </a:prstGeom>
          <a:solidFill>
            <a:srgbClr val="F5F7FB"/>
          </a:solidFill>
          <a:ln w="12700">
            <a:solidFill>
              <a:srgbClr val="DC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14400" y="1920240"/>
            <a:ext cx="73152" cy="932688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78992" y="1975104"/>
            <a:ext cx="37947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DC2626"/>
                </a:solidFill>
                <a:latin typeface="Trebuchet MS"/>
              </a:defRPr>
            </a:pPr>
            <a:r>
              <a:t>Rule 1: Eliminate False Precision</a:t>
            </a:r>
          </a:p>
          <a:p>
            <a:pPr>
              <a:defRPr sz="880">
                <a:solidFill>
                  <a:srgbClr val="1D1F26"/>
                </a:solidFill>
                <a:latin typeface="Segoe UI"/>
              </a:defRPr>
            </a:pPr>
            <a:r>
              <a:t>Never quote raw single points (e.g. '5,921'). Claiming exact single-person precision with n=8 data points destroys public credibility.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2944368"/>
            <a:ext cx="4023360" cy="932688"/>
          </a:xfrm>
          <a:prstGeom prst="roundRect">
            <a:avLst>
              <a:gd name="adj" fmla="val 2500"/>
            </a:avLst>
          </a:prstGeom>
          <a:solidFill>
            <a:srgbClr val="F5F7FB"/>
          </a:solidFill>
          <a:ln w="12700">
            <a:solidFill>
              <a:srgbClr val="DC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14400" y="2944368"/>
            <a:ext cx="73152" cy="93268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78992" y="2999232"/>
            <a:ext cx="37947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D97706"/>
                </a:solidFill>
                <a:latin typeface="Trebuchet MS"/>
              </a:defRPr>
            </a:pPr>
            <a:r>
              <a:t>Rule 2: Mandate Rounding to 100</a:t>
            </a:r>
          </a:p>
          <a:p>
            <a:pPr>
              <a:defRPr sz="880">
                <a:solidFill>
                  <a:srgbClr val="1D1F26"/>
                </a:solidFill>
                <a:latin typeface="Segoe UI"/>
              </a:defRPr>
            </a:pPr>
            <a:r>
              <a:t>Always report headline estimates rounded to the nearest hundred: quote 'about 5,900 individuals'.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" y="3968496"/>
            <a:ext cx="4023360" cy="932688"/>
          </a:xfrm>
          <a:prstGeom prst="roundRect">
            <a:avLst>
              <a:gd name="adj" fmla="val 2500"/>
            </a:avLst>
          </a:prstGeom>
          <a:solidFill>
            <a:srgbClr val="F5F7FB"/>
          </a:solidFill>
          <a:ln w="12700">
            <a:solidFill>
              <a:srgbClr val="DC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14400" y="3968496"/>
            <a:ext cx="73152" cy="932688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78992" y="4023360"/>
            <a:ext cx="37947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59669"/>
                </a:solidFill>
                <a:latin typeface="Trebuchet MS"/>
              </a:defRPr>
            </a:pPr>
            <a:r>
              <a:t>Rule 3: Always State 95% Interval</a:t>
            </a:r>
          </a:p>
          <a:p>
            <a:pPr>
              <a:defRPr sz="880">
                <a:solidFill>
                  <a:srgbClr val="1D1F26"/>
                </a:solidFill>
                <a:latin typeface="Segoe UI"/>
              </a:defRPr>
            </a:pPr>
            <a:r>
              <a:t>Every point estimate must be paired with calibrated Student's t range: '5,900 [3,900 to 8,000]' (margin of error ±2,050 / ±35%).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4400" y="4992624"/>
            <a:ext cx="4023360" cy="932688"/>
          </a:xfrm>
          <a:prstGeom prst="roundRect">
            <a:avLst>
              <a:gd name="adj" fmla="val 2500"/>
            </a:avLst>
          </a:prstGeom>
          <a:solidFill>
            <a:srgbClr val="F5F7FB"/>
          </a:solidFill>
          <a:ln w="12700">
            <a:solidFill>
              <a:srgbClr val="DC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14400" y="4992624"/>
            <a:ext cx="73152" cy="932688"/>
          </a:xfrm>
          <a:prstGeom prst="rect">
            <a:avLst/>
          </a:prstGeom>
          <a:solidFill>
            <a:srgbClr val="3A58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78992" y="5047488"/>
            <a:ext cx="37947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3A58E4"/>
                </a:solidFill>
                <a:latin typeface="Trebuchet MS"/>
              </a:defRPr>
            </a:pPr>
            <a:r>
              <a:t>Rule 4: Disclose Policy Regime</a:t>
            </a:r>
          </a:p>
          <a:p>
            <a:pPr>
              <a:defRPr sz="880">
                <a:solidFill>
                  <a:srgbClr val="1D1F26"/>
                </a:solidFill>
                <a:latin typeface="Segoe UI"/>
              </a:defRPr>
            </a:pPr>
            <a:r>
              <a:t>State model assumptions: Y = 4,513 + 0.186X + 1,225*D_post. True fit is R² = 0.504 (0.964 is ANOVA effect size η², not R²).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303520" y="1371600"/>
            <a:ext cx="6156655" cy="480060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DC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task93_county_ols_interva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2423864"/>
            <a:ext cx="5882335" cy="2696070"/>
          </a:xfrm>
          <a:prstGeom prst="rect">
            <a:avLst/>
          </a:prstGeom>
        </p:spPr>
      </p:pic>
    </p:spTree>
  </p:cSld>
  <p:clrMapOvr>
    <a:masterClrMapping/>
  </p:clrMapOvr>
  <p:transition spd="med" advClick="1">
    <p:fade thruBlk="0"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094415" y="0"/>
            <a:ext cx="1097280" cy="749808"/>
          </a:xfrm>
          <a:prstGeom prst="rect">
            <a:avLst/>
          </a:prstGeom>
          <a:solidFill>
            <a:srgbClr val="293E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FFFFFF"/>
                </a:solidFill>
                <a:latin typeface="Trebuchet MS"/>
              </a:defRPr>
            </a:pPr>
            <a:r>
              <a:t>11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384048"/>
            <a:ext cx="54864" cy="749808"/>
          </a:xfrm>
          <a:prstGeom prst="rect">
            <a:avLst/>
          </a:prstGeom>
          <a:solidFill>
            <a:srgbClr val="3A58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347472"/>
            <a:ext cx="9875520" cy="8412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3A58E4"/>
                </a:solidFill>
                <a:latin typeface="Segoe UI"/>
              </a:defRPr>
            </a:pPr>
            <a:r>
              <a:t>STRATEGIC RECOMMENDATIONS</a:t>
            </a:r>
          </a:p>
          <a:p>
            <a:pPr>
              <a:defRPr sz="2000" b="1">
                <a:solidFill>
                  <a:srgbClr val="293E9C"/>
                </a:solidFill>
                <a:latin typeface="Trebuchet MS"/>
              </a:defRPr>
            </a:pPr>
            <a:r>
              <a:t>Municipal Policy Action Roadmap: Recommendations (R1–R8)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207008"/>
            <a:ext cx="10728655" cy="10972"/>
          </a:xfrm>
          <a:prstGeom prst="rect">
            <a:avLst/>
          </a:prstGeom>
          <a:solidFill>
            <a:srgbClr val="DCE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6309360"/>
            <a:ext cx="10728655" cy="10972"/>
          </a:xfrm>
          <a:prstGeom prst="rect">
            <a:avLst/>
          </a:prstGeom>
          <a:solidFill>
            <a:srgbClr val="DCE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382512"/>
            <a:ext cx="86868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647491"/>
                </a:solidFill>
                <a:latin typeface="Segoe UI"/>
              </a:defRPr>
            </a:pPr>
            <a:r>
              <a:t>Data Science Alliance • Downtown San Diego Homeless Population Analysis • Sources: DSDP Field Counts &amp; RTFH PIT Census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382512"/>
            <a:ext cx="18589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00" b="1">
                <a:solidFill>
                  <a:srgbClr val="293E9C"/>
                </a:solidFill>
                <a:latin typeface="Segoe UI"/>
              </a:defRPr>
            </a:pPr>
            <a:r>
              <a:t>Slide 11 of 12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371600"/>
            <a:ext cx="3456432" cy="480060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DC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" y="1371600"/>
            <a:ext cx="3456432" cy="91440"/>
          </a:xfrm>
          <a:prstGeom prst="rect">
            <a:avLst/>
          </a:prstGeom>
          <a:solidFill>
            <a:srgbClr val="3A58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1600200"/>
            <a:ext cx="3090672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3A58E4"/>
                </a:solidFill>
                <a:latin typeface="Trebuchet MS"/>
              </a:defRPr>
            </a:pPr>
            <a:r>
              <a:t>IMMEDIATE (0–3 MONTHS)</a:t>
            </a:r>
          </a:p>
          <a:p>
            <a:pPr>
              <a:spcAft>
                <a:spcPts val="1000"/>
              </a:spcAft>
              <a:defRPr sz="950" b="1">
                <a:solidFill>
                  <a:srgbClr val="647491"/>
                </a:solidFill>
                <a:latin typeface="Segoe UI"/>
              </a:defRPr>
            </a:pPr>
            <a:r>
              <a:t>Outreach, Standards &amp; Boundaries</a:t>
            </a:r>
          </a:p>
          <a:p>
            <a:pPr>
              <a:spcAft>
                <a:spcPts val="600"/>
              </a:spcAft>
            </a:pPr>
            <a:r>
              <a:rPr sz="980" b="1">
                <a:solidFill>
                  <a:srgbClr val="1D1F26"/>
                </a:solidFill>
                <a:latin typeface="Segoe UI"/>
              </a:rPr>
              <a:t>• R1. Persistent Hotspot Surge: </a:t>
            </a:r>
            <a:r>
              <a:rPr sz="919">
                <a:solidFill>
                  <a:srgbClr val="647491"/>
                </a:solidFill>
                <a:latin typeface="Segoe UI"/>
              </a:rPr>
              <a:t>Deploy mobile hygiene, medical vans, and outreach directly to 16th-17th &amp; Imperial corridor.</a:t>
            </a:r>
          </a:p>
          <a:p>
            <a:pPr>
              <a:spcAft>
                <a:spcPts val="600"/>
              </a:spcAft>
            </a:pPr>
            <a:r>
              <a:rPr sz="980" b="1">
                <a:solidFill>
                  <a:srgbClr val="1D1F26"/>
                </a:solidFill>
                <a:latin typeface="Segoe UI"/>
              </a:rPr>
              <a:t>• R2. Mandate Range Planning: </a:t>
            </a:r>
            <a:r>
              <a:rPr sz="919">
                <a:solidFill>
                  <a:srgbClr val="647491"/>
                </a:solidFill>
                <a:latin typeface="Segoe UI"/>
              </a:rPr>
              <a:t>Enforce The 4 Communication Rules (5,900 [3,900–8,000]) across all municipal reports and budget allocations.</a:t>
            </a:r>
          </a:p>
          <a:p>
            <a:pPr>
              <a:spcAft>
                <a:spcPts val="600"/>
              </a:spcAft>
            </a:pPr>
            <a:r>
              <a:rPr sz="980" b="1">
                <a:solidFill>
                  <a:srgbClr val="1D1F26"/>
                </a:solidFill>
                <a:latin typeface="Segoe UI"/>
              </a:rPr>
              <a:t>• R3. Disclose Footprint Wedge: </a:t>
            </a:r>
            <a:r>
              <a:rPr sz="919">
                <a:solidFill>
                  <a:srgbClr val="647491"/>
                </a:solidFill>
                <a:latin typeface="Segoe UI"/>
              </a:rPr>
              <a:t>Require dual reporting (Core 261 vs Expanded 382 blocks) to maintain longitudinal data integrity.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70832" y="1371600"/>
            <a:ext cx="3456432" cy="480060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DC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70832" y="1371600"/>
            <a:ext cx="3456432" cy="9144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53712" y="1600200"/>
            <a:ext cx="3090672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59669"/>
                </a:solidFill>
                <a:latin typeface="Trebuchet MS"/>
              </a:defRPr>
            </a:pPr>
            <a:r>
              <a:t>MEDIUM-TERM (6–12 MONTHS)</a:t>
            </a:r>
          </a:p>
          <a:p>
            <a:pPr>
              <a:spcAft>
                <a:spcPts val="1000"/>
              </a:spcAft>
              <a:defRPr sz="950" b="1">
                <a:solidFill>
                  <a:srgbClr val="647491"/>
                </a:solidFill>
                <a:latin typeface="Segoe UI"/>
              </a:defRPr>
            </a:pPr>
            <a:r>
              <a:t>Data Rigor &amp; Regional Audits</a:t>
            </a:r>
          </a:p>
          <a:p>
            <a:pPr>
              <a:spcAft>
                <a:spcPts val="600"/>
              </a:spcAft>
            </a:pPr>
            <a:r>
              <a:rPr sz="980" b="1">
                <a:solidFill>
                  <a:srgbClr val="1D1F26"/>
                </a:solidFill>
                <a:latin typeface="Segoe UI"/>
              </a:rPr>
              <a:t>• R4. Component Sub-Totals: </a:t>
            </a:r>
            <a:r>
              <a:rPr sz="919">
                <a:solidFill>
                  <a:srgbClr val="647491"/>
                </a:solidFill>
                <a:latin typeface="Segoe UI"/>
              </a:rPr>
              <a:t>Restore separate tent, vehicle, and individual street count breakdowns in monthly DSDP reports.</a:t>
            </a:r>
          </a:p>
          <a:p>
            <a:pPr>
              <a:spcAft>
                <a:spcPts val="600"/>
              </a:spcAft>
            </a:pPr>
            <a:r>
              <a:rPr sz="980" b="1">
                <a:solidFill>
                  <a:srgbClr val="1D1F26"/>
                </a:solidFill>
                <a:latin typeface="Segoe UI"/>
              </a:rPr>
              <a:t>• R5. Displacement Tracking: </a:t>
            </a:r>
            <a:r>
              <a:rPr sz="919">
                <a:solidFill>
                  <a:srgbClr val="647491"/>
                </a:solidFill>
                <a:latin typeface="Segoe UI"/>
              </a:rPr>
              <a:t>Launch joint City-County surveillance along transit corridors, riverbeds, and unincorporated areas.</a:t>
            </a:r>
          </a:p>
          <a:p>
            <a:pPr>
              <a:spcAft>
                <a:spcPts val="600"/>
              </a:spcAft>
            </a:pPr>
            <a:r>
              <a:rPr sz="980" b="1">
                <a:solidFill>
                  <a:srgbClr val="1D1F26"/>
                </a:solidFill>
                <a:latin typeface="Segoe UI"/>
              </a:rPr>
              <a:t>• R6. Retrain OLS Estimators: </a:t>
            </a:r>
            <a:r>
              <a:rPr sz="919">
                <a:solidFill>
                  <a:srgbClr val="647491"/>
                </a:solidFill>
                <a:latin typeface="Segoe UI"/>
              </a:rPr>
              <a:t>Update regression coefficients with incoming 2026 RTFH Point-in-Time benchmark counts.</a:t>
            </a:r>
          </a:p>
          <a:p>
            <a:pPr>
              <a:spcAft>
                <a:spcPts val="600"/>
              </a:spcAft>
            </a:pPr>
            <a:r>
              <a:rPr sz="980" b="1">
                <a:solidFill>
                  <a:srgbClr val="1D1F26"/>
                </a:solidFill>
                <a:latin typeface="Segoe UI"/>
              </a:rPr>
              <a:t>• R7. Shelter Bed Integration: </a:t>
            </a:r>
            <a:r>
              <a:rPr sz="919">
                <a:solidFill>
                  <a:srgbClr val="647491"/>
                </a:solidFill>
                <a:latin typeface="Segoe UI"/>
              </a:rPr>
              <a:t>Incorporate real-time Housing Inventory Count (HIC) bed occupancy into monthly analytics.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10144" y="1371600"/>
            <a:ext cx="3456432" cy="480060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DC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10144" y="1371600"/>
            <a:ext cx="3456432" cy="91440"/>
          </a:xfrm>
          <a:prstGeom prst="rect">
            <a:avLst/>
          </a:prstGeom>
          <a:solidFill>
            <a:srgbClr val="293E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93024" y="1600200"/>
            <a:ext cx="3090672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293E9C"/>
                </a:solidFill>
                <a:latin typeface="Trebuchet MS"/>
              </a:defRPr>
            </a:pPr>
            <a:r>
              <a:t>LONG-TERM (1–3 YEARS)</a:t>
            </a:r>
          </a:p>
          <a:p>
            <a:pPr>
              <a:spcAft>
                <a:spcPts val="1000"/>
              </a:spcAft>
              <a:defRPr sz="950" b="1">
                <a:solidFill>
                  <a:srgbClr val="647491"/>
                </a:solidFill>
                <a:latin typeface="Segoe UI"/>
              </a:defRPr>
            </a:pPr>
            <a:r>
              <a:t>System Digitization &amp; Governance</a:t>
            </a:r>
          </a:p>
          <a:p>
            <a:pPr>
              <a:spcAft>
                <a:spcPts val="600"/>
              </a:spcAft>
            </a:pPr>
            <a:r>
              <a:rPr sz="980" b="1">
                <a:solidFill>
                  <a:srgbClr val="1D1F26"/>
                </a:solidFill>
                <a:latin typeface="Segoe UI"/>
              </a:rPr>
              <a:t>• R8. Complete Map Digitization: </a:t>
            </a:r>
            <a:r>
              <a:rPr sz="919">
                <a:solidFill>
                  <a:srgbClr val="647491"/>
                </a:solidFill>
                <a:latin typeface="Segoe UI"/>
              </a:rPr>
              <a:t>Digitize remaining 78 historical block-level PDF tally maps (2017–2022) to establish block-level panel.</a:t>
            </a:r>
          </a:p>
          <a:p>
            <a:pPr>
              <a:spcAft>
                <a:spcPts val="600"/>
              </a:spcAft>
            </a:pPr>
            <a:r>
              <a:rPr sz="980" b="1">
                <a:solidFill>
                  <a:srgbClr val="1D1F26"/>
                </a:solidFill>
                <a:latin typeface="Segoe UI"/>
              </a:rPr>
              <a:t>• Unified Regional HMIS: </a:t>
            </a:r>
            <a:r>
              <a:rPr sz="919">
                <a:solidFill>
                  <a:srgbClr val="647491"/>
                </a:solidFill>
                <a:latin typeface="Segoe UI"/>
              </a:rPr>
              <a:t>Link City DSDP field counts with County Homeless Management Information System (HMIS) records.</a:t>
            </a:r>
          </a:p>
          <a:p>
            <a:pPr>
              <a:spcAft>
                <a:spcPts val="600"/>
              </a:spcAft>
            </a:pPr>
            <a:r>
              <a:rPr sz="980" b="1">
                <a:solidFill>
                  <a:srgbClr val="1D1F26"/>
                </a:solidFill>
                <a:latin typeface="Segoe UI"/>
              </a:rPr>
              <a:t>• True Regional Evaluation: </a:t>
            </a:r>
            <a:r>
              <a:rPr sz="919">
                <a:solidFill>
                  <a:srgbClr val="647491"/>
                </a:solidFill>
                <a:latin typeface="Segoe UI"/>
              </a:rPr>
              <a:t>Measure net permanent housing exits rather than local sidewalk clearance.</a:t>
            </a:r>
          </a:p>
        </p:txBody>
      </p:sp>
    </p:spTree>
  </p:cSld>
  <p:clrMapOvr>
    <a:masterClrMapping/>
  </p:clrMapOvr>
  <p:transition spd="med" advClick="1">
    <p:fade thruBlk="0"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094415" y="0"/>
            <a:ext cx="1097280" cy="749808"/>
          </a:xfrm>
          <a:prstGeom prst="rect">
            <a:avLst/>
          </a:prstGeom>
          <a:solidFill>
            <a:srgbClr val="293E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FFFFFF"/>
                </a:solidFill>
                <a:latin typeface="Trebuchet MS"/>
              </a:defRPr>
            </a:pPr>
            <a:r>
              <a:t>12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384048"/>
            <a:ext cx="54864" cy="749808"/>
          </a:xfrm>
          <a:prstGeom prst="rect">
            <a:avLst/>
          </a:prstGeom>
          <a:solidFill>
            <a:srgbClr val="3A58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347472"/>
            <a:ext cx="9875520" cy="8412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3A58E4"/>
                </a:solidFill>
                <a:latin typeface="Segoe UI"/>
              </a:defRPr>
            </a:pPr>
            <a:r>
              <a:t>OPERATIONAL TOOL &amp; SYNTHESIS</a:t>
            </a:r>
          </a:p>
          <a:p>
            <a:pPr>
              <a:defRPr sz="2000" b="1">
                <a:solidFill>
                  <a:srgbClr val="293E9C"/>
                </a:solidFill>
                <a:latin typeface="Trebuchet MS"/>
              </a:defRPr>
            </a:pPr>
            <a:r>
              <a:t>Interactive Decision-Support Tool &amp; Executive Synthesis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207008"/>
            <a:ext cx="10728655" cy="10972"/>
          </a:xfrm>
          <a:prstGeom prst="rect">
            <a:avLst/>
          </a:prstGeom>
          <a:solidFill>
            <a:srgbClr val="DCE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6309360"/>
            <a:ext cx="10728655" cy="10972"/>
          </a:xfrm>
          <a:prstGeom prst="rect">
            <a:avLst/>
          </a:prstGeom>
          <a:solidFill>
            <a:srgbClr val="DCE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382512"/>
            <a:ext cx="86868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647491"/>
                </a:solidFill>
                <a:latin typeface="Segoe UI"/>
              </a:defRPr>
            </a:pPr>
            <a:r>
              <a:t>Data Science Alliance • Downtown San Diego Homeless Population Analysis • Sources: DSDP Field Counts &amp; RTFH PIT Census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382512"/>
            <a:ext cx="18589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00" b="1">
                <a:solidFill>
                  <a:srgbClr val="293E9C"/>
                </a:solidFill>
                <a:latin typeface="Segoe UI"/>
              </a:defRPr>
            </a:pPr>
            <a:r>
              <a:t>Slide 12 of 12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371600"/>
            <a:ext cx="5212080" cy="480060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DC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554480"/>
            <a:ext cx="484632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293E9C"/>
                </a:solidFill>
                <a:latin typeface="Trebuchet MS"/>
              </a:defRPr>
            </a:pPr>
            <a:r>
              <a:t>7 DECISION-SUPPORT MODULES (STREAMLIT APP)</a:t>
            </a:r>
          </a:p>
          <a:p>
            <a:pPr>
              <a:spcAft>
                <a:spcPts val="300"/>
              </a:spcAft>
            </a:pPr>
            <a:r>
              <a:rPr sz="980" b="1">
                <a:solidFill>
                  <a:srgbClr val="3A58E4"/>
                </a:solidFill>
                <a:latin typeface="Segoe UI"/>
              </a:rPr>
              <a:t>• Tab 1: History: </a:t>
            </a:r>
            <a:r>
              <a:rPr sz="900">
                <a:solidFill>
                  <a:srgbClr val="1D1F26"/>
                </a:solidFill>
                <a:latin typeface="Segoe UI"/>
              </a:rPr>
              <a:t>Multi-year trajectory with policy epoch overlays (2017–2025).</a:t>
            </a:r>
          </a:p>
          <a:p>
            <a:pPr>
              <a:spcAft>
                <a:spcPts val="300"/>
              </a:spcAft>
            </a:pPr>
            <a:r>
              <a:rPr sz="980" b="1">
                <a:solidFill>
                  <a:srgbClr val="3A58E4"/>
                </a:solidFill>
                <a:latin typeface="Segoe UI"/>
              </a:rPr>
              <a:t>• Tab 2: Forecast: </a:t>
            </a:r>
            <a:r>
              <a:rPr sz="900">
                <a:solidFill>
                  <a:srgbClr val="1D1F26"/>
                </a:solidFill>
                <a:latin typeface="Segoe UI"/>
              </a:rPr>
              <a:t>XGBoost 12-month projections, 95% fans &amp; scenario stress-testing.</a:t>
            </a:r>
          </a:p>
          <a:p>
            <a:pPr>
              <a:spcAft>
                <a:spcPts val="300"/>
              </a:spcAft>
            </a:pPr>
            <a:r>
              <a:rPr sz="980" b="1">
                <a:solidFill>
                  <a:srgbClr val="3A58E4"/>
                </a:solidFill>
                <a:latin typeface="Segoe UI"/>
              </a:rPr>
              <a:t>• Tab 3: Hotspots: </a:t>
            </a:r>
            <a:r>
              <a:rPr sz="900">
                <a:solidFill>
                  <a:srgbClr val="1D1F26"/>
                </a:solidFill>
                <a:latin typeface="Segoe UI"/>
              </a:rPr>
              <a:t>Interactive Getis-Ord Gi* cluster maps and centroid migration vector.</a:t>
            </a:r>
          </a:p>
          <a:p>
            <a:pPr>
              <a:spcAft>
                <a:spcPts val="300"/>
              </a:spcAft>
            </a:pPr>
            <a:r>
              <a:rPr sz="980" b="1">
                <a:solidFill>
                  <a:srgbClr val="3A58E4"/>
                </a:solidFill>
                <a:latin typeface="Segoe UI"/>
              </a:rPr>
              <a:t>• Tab 4: Seasonality: </a:t>
            </a:r>
            <a:r>
              <a:rPr sz="900">
                <a:solidFill>
                  <a:srgbClr val="1D1F26"/>
                </a:solidFill>
                <a:latin typeface="Segoe UI"/>
              </a:rPr>
              <a:t>STL decomposition with month-of-year seasonal indices.</a:t>
            </a:r>
          </a:p>
          <a:p>
            <a:pPr>
              <a:spcAft>
                <a:spcPts val="300"/>
              </a:spcAft>
            </a:pPr>
            <a:r>
              <a:rPr sz="980" b="1">
                <a:solidFill>
                  <a:srgbClr val="3A58E4"/>
                </a:solidFill>
                <a:latin typeface="Segoe UI"/>
              </a:rPr>
              <a:t>• Tab 5: Calculator: </a:t>
            </a:r>
            <a:r>
              <a:rPr sz="900">
                <a:solidFill>
                  <a:srgbClr val="1D1F26"/>
                </a:solidFill>
                <a:latin typeface="Segoe UI"/>
              </a:rPr>
              <a:t>County macro estimator strictly enforcing The 4 Communication Rules.</a:t>
            </a:r>
          </a:p>
          <a:p>
            <a:pPr>
              <a:spcAft>
                <a:spcPts val="300"/>
              </a:spcAft>
            </a:pPr>
            <a:r>
              <a:rPr sz="980" b="1">
                <a:solidFill>
                  <a:srgbClr val="3A58E4"/>
                </a:solidFill>
                <a:latin typeface="Segoe UI"/>
              </a:rPr>
              <a:t>• Tab 6: Methods: </a:t>
            </a:r>
            <a:r>
              <a:rPr sz="900">
                <a:solidFill>
                  <a:srgbClr val="1D1F26"/>
                </a:solidFill>
                <a:latin typeface="Segoe UI"/>
              </a:rPr>
              <a:t>Multiplier transparency, perimeter changes, and documentation.</a:t>
            </a:r>
          </a:p>
          <a:p>
            <a:pPr>
              <a:spcAft>
                <a:spcPts val="300"/>
              </a:spcAft>
            </a:pPr>
            <a:r>
              <a:rPr sz="980" b="1">
                <a:solidFill>
                  <a:srgbClr val="3A58E4"/>
                </a:solidFill>
                <a:latin typeface="Segoe UI"/>
              </a:rPr>
              <a:t>• Tab 7: Alerts: </a:t>
            </a:r>
            <a:r>
              <a:rPr sz="900">
                <a:solidFill>
                  <a:srgbClr val="1D1F26"/>
                </a:solidFill>
                <a:latin typeface="Segoe UI"/>
              </a:rPr>
              <a:t>Anomaly surveillance matrix and CUSUM early-warning monitoring.</a:t>
            </a:r>
          </a:p>
          <a:p>
            <a:pPr>
              <a:spcBef>
                <a:spcPts val="800"/>
              </a:spcBef>
              <a:defRPr sz="1050" b="1">
                <a:solidFill>
                  <a:srgbClr val="059669"/>
                </a:solidFill>
                <a:latin typeface="Trebuchet MS"/>
              </a:defRPr>
            </a:pPr>
            <a:r>
              <a:t>DEPLOYMENT ACCESS &amp; SYSTEM HEALTH</a:t>
            </a:r>
          </a:p>
          <a:p>
            <a:pPr>
              <a:defRPr sz="900">
                <a:solidFill>
                  <a:srgbClr val="1D1F26"/>
                </a:solidFill>
                <a:latin typeface="Segoe UI"/>
              </a:defRPr>
            </a:pPr>
            <a:r>
              <a:t>• Local Server: http://localhost:8501 (Instant response)</a:t>
            </a:r>
          </a:p>
          <a:p>
            <a:pPr>
              <a:defRPr sz="900">
                <a:solidFill>
                  <a:srgbClr val="1D1F26"/>
                </a:solidFill>
                <a:latin typeface="Segoe UI"/>
              </a:defRPr>
            </a:pPr>
            <a:r>
              <a:t>• Cloud URL: https://downtown-sd-homelessness.streamlit.app</a:t>
            </a:r>
          </a:p>
          <a:p>
            <a:pPr>
              <a:defRPr sz="900">
                <a:solidFill>
                  <a:srgbClr val="647491"/>
                </a:solidFill>
                <a:latin typeface="Segoe UI"/>
              </a:defRPr>
            </a:pPr>
            <a:r>
              <a:t>• Test Suite: 46/46 unit tests passing • Sub-second @st.cache_data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371600"/>
            <a:ext cx="5242255" cy="480060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DC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1554480"/>
            <a:ext cx="4876495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293E9C"/>
                </a:solidFill>
                <a:latin typeface="Trebuchet MS"/>
              </a:defRPr>
            </a:pPr>
            <a:r>
              <a:t>EXECUTIVE SYNTHESIS &amp; CORE TAKEAWAYS</a:t>
            </a:r>
          </a:p>
          <a:p>
            <a:pPr>
              <a:spcBef>
                <a:spcPts val="400"/>
              </a:spcBef>
              <a:defRPr sz="1050" b="1">
                <a:solidFill>
                  <a:srgbClr val="3A58E4"/>
                </a:solidFill>
                <a:latin typeface="Trebuchet MS"/>
              </a:defRPr>
            </a:pPr>
            <a:r>
              <a:t>Pillar 1: Regional Displacement Reality</a:t>
            </a:r>
          </a:p>
          <a:p>
            <a:pPr>
              <a:defRPr sz="919">
                <a:solidFill>
                  <a:srgbClr val="1D1F26"/>
                </a:solidFill>
                <a:latin typeface="Segoe UI"/>
              </a:defRPr>
            </a:pPr>
            <a:r>
              <a:t>Downtown counts dropped to 851, but county unsheltered reached record highs (6,110). Enforcement redistributes individuals; genuine reduction requires regional shelter and permanent supportive housing capacity.</a:t>
            </a:r>
          </a:p>
          <a:p>
            <a:pPr>
              <a:spcBef>
                <a:spcPts val="400"/>
              </a:spcBef>
              <a:defRPr sz="1050" b="1">
                <a:solidFill>
                  <a:srgbClr val="D97706"/>
                </a:solidFill>
                <a:latin typeface="Trebuchet MS"/>
              </a:defRPr>
            </a:pPr>
            <a:r>
              <a:t>Pillar 2: Honest Uncertainty Quantification</a:t>
            </a:r>
          </a:p>
          <a:p>
            <a:pPr>
              <a:defRPr sz="919">
                <a:solidFill>
                  <a:srgbClr val="1D1F26"/>
                </a:solidFill>
                <a:latin typeface="Segoe UI"/>
              </a:defRPr>
            </a:pPr>
            <a:r>
              <a:t>Point estimates without intervals mislead public officials. Mandating Rule 2 (5,900) and Rule 3 ([3,900 to 8,000]) protects municipal credibility and anchors realistic budgeting.</a:t>
            </a:r>
          </a:p>
          <a:p>
            <a:pPr>
              <a:spcBef>
                <a:spcPts val="400"/>
              </a:spcBef>
              <a:defRPr sz="1050" b="1">
                <a:solidFill>
                  <a:srgbClr val="059669"/>
                </a:solidFill>
                <a:latin typeface="Trebuchet MS"/>
              </a:defRPr>
            </a:pPr>
            <a:r>
              <a:t>Pillar 3: Unified Data Infrastructure</a:t>
            </a:r>
          </a:p>
          <a:p>
            <a:pPr>
              <a:defRPr sz="919">
                <a:solidFill>
                  <a:srgbClr val="1D1F26"/>
                </a:solidFill>
                <a:latin typeface="Segoe UI"/>
              </a:defRPr>
            </a:pPr>
            <a:r>
              <a:t>Measuring progress requires linking street counts with shelter bed inventories, component breakdowns, and HMIS tracking to measure human exits rather than block clearances.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0" y="5440680"/>
            <a:ext cx="4876495" cy="594360"/>
          </a:xfrm>
          <a:prstGeom prst="roundRect">
            <a:avLst>
              <a:gd name="adj" fmla="val 2500"/>
            </a:avLst>
          </a:prstGeom>
          <a:solidFill>
            <a:srgbClr val="D3DFFF"/>
          </a:solidFill>
          <a:ln w="12700">
            <a:solidFill>
              <a:srgbClr val="3A5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0528" y="5513832"/>
            <a:ext cx="4657039" cy="4480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>
                <a:solidFill>
                  <a:srgbClr val="293E9C"/>
                </a:solidFill>
                <a:latin typeface="Segoe UI"/>
              </a:rPr>
              <a:t>Discussion &amp; Q&amp;A: </a:t>
            </a:r>
            <a:r>
              <a:rPr sz="1000">
                <a:solidFill>
                  <a:srgbClr val="1D1F26"/>
                </a:solidFill>
                <a:latin typeface="Segoe UI"/>
              </a:rPr>
              <a:t>Executive presentation concluded. Ready for scenario walk-throughs, stakeholder questions, and live Streamlit dashboard demonstration.</a:t>
            </a:r>
          </a:p>
        </p:txBody>
      </p:sp>
    </p:spTree>
  </p:cSld>
  <p:clrMapOvr>
    <a:masterClrMapping/>
  </p:clrMapOvr>
  <p:transition spd="med" advClick="1">
    <p:fade thruBlk="0"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