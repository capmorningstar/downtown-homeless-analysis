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371600"/>
            <a:ext cx="4114800" cy="384048"/>
          </a:xfrm>
          <a:prstGeom prst="roundRect">
            <a:avLst/>
          </a:prstGeom>
          <a:solidFill>
            <a:srgbClr val="D3DFFF"/>
          </a:solidFill>
          <a:ln w="12700">
            <a:solidFill>
              <a:srgbClr val="9A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371600"/>
            <a:ext cx="4114800" cy="384048"/>
          </a:xfrm>
          <a:prstGeom prst="rect">
            <a:avLst/>
          </a:prstGeom>
          <a:noFill/>
        </p:spPr>
        <p:txBody>
          <a:bodyPr wrap="none" lIns="164592" tIns="73152">
            <a:spAutoFit/>
          </a:bodyPr>
          <a:lstStyle/>
          <a:p>
            <a:pPr>
              <a:defRPr sz="1000" b="1">
                <a:solidFill>
                  <a:srgbClr val="293E9C"/>
                </a:solidFill>
                <a:latin typeface="Segoe UI"/>
              </a:defRPr>
            </a:pPr>
            <a:r>
              <a:t>DATA SCIENCE ALLIANCE • TASK 2.3 CHECK-IN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11680"/>
            <a:ext cx="9144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293E9C"/>
                </a:solidFill>
                <a:latin typeface="Trebuchet MS"/>
              </a:defRPr>
            </a:pPr>
            <a:r>
              <a:t>Downtown San Diego Unsheltered</a:t>
            </a:r>
            <a:br/>
            <a:r>
              <a:t>Homeless Population: EDA Findings</a:t>
            </a:r>
          </a:p>
          <a:p>
            <a:pPr>
              <a:defRPr sz="1700" b="1">
                <a:solidFill>
                  <a:srgbClr val="3A58E4"/>
                </a:solidFill>
                <a:latin typeface="Segoe UI"/>
              </a:defRPr>
            </a:pPr>
            <a:r>
              <a:t>Kyaw Soe Lwin | Data Science Alliance | 2017–2025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4297680"/>
            <a:ext cx="9144000" cy="13716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448056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A58E4"/>
                </a:solidFill>
                <a:latin typeface="Segoe UI"/>
              </a:defRPr>
            </a:pPr>
            <a:r>
              <a:t>SOURCE DATA</a:t>
            </a:r>
          </a:p>
          <a:p>
            <a:pPr>
              <a:defRPr sz="1050">
                <a:solidFill>
                  <a:srgbClr val="1D1F26"/>
                </a:solidFill>
                <a:latin typeface="Segoe UI"/>
              </a:defRPr>
            </a:pPr>
            <a:r>
              <a:t>Downtown San Diego Partnership (DSDP) Clean &amp; Safe monthly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48056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A58E4"/>
                </a:solidFill>
                <a:latin typeface="Segoe UI"/>
              </a:defRPr>
            </a:pPr>
            <a:r>
              <a:t>LONGITUDINAL SCOPE</a:t>
            </a:r>
          </a:p>
          <a:p>
            <a:pPr>
              <a:defRPr sz="1050">
                <a:solidFill>
                  <a:srgbClr val="1D1F26"/>
                </a:solidFill>
                <a:latin typeface="Segoe UI"/>
              </a:defRPr>
            </a:pPr>
            <a:r>
              <a:t>2017–2025 (8 full &amp; partial calendar years, 7 downtown neighborhoods)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48056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A58E4"/>
                </a:solidFill>
                <a:latin typeface="Segoe UI"/>
              </a:defRPr>
            </a:pPr>
            <a:r>
              <a:t>ANALYSIS FOCUS</a:t>
            </a:r>
          </a:p>
          <a:p>
            <a:pPr>
              <a:defRPr sz="1050">
                <a:solidFill>
                  <a:srgbClr val="1D1F26"/>
                </a:solidFill>
                <a:latin typeface="Segoe UI"/>
              </a:defRPr>
            </a:pPr>
            <a:r>
              <a:t>Overall trajectory, seasonality, COVID dip, methodology &amp; spatial dynamics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Source: DSDP Monthly Counts (2017–2025)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77240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A58E4"/>
                </a:solidFill>
                <a:latin typeface="Segoe UI"/>
              </a:defRPr>
            </a:pPr>
            <a:r>
              <a:t>LONGITUDINAL ANALYSIS</a:t>
            </a:r>
          </a:p>
          <a:p>
            <a:pPr>
              <a:defRPr sz="2100" b="1">
                <a:solidFill>
                  <a:srgbClr val="293E9C"/>
                </a:solidFill>
                <a:latin typeface="Trebuchet MS"/>
              </a:defRPr>
            </a:pPr>
            <a:r>
              <a:t>Overall Longitudinal Trend: Three Distinct Phases (2017–2025)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325880" cy="1051560"/>
          </a:xfrm>
          <a:prstGeom prst="round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2"/>
            <a:ext cx="11887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529</a:t>
            </a:r>
          </a:p>
          <a:p>
            <a:pPr>
              <a:defRPr sz="850" b="1">
                <a:solidFill>
                  <a:srgbClr val="FFFFFF"/>
                </a:solidFill>
                <a:latin typeface="Segoe UI"/>
              </a:defRPr>
            </a:pPr>
            <a:r>
              <a:t>SERIES LOW</a:t>
            </a:r>
          </a:p>
          <a:p>
            <a:pPr>
              <a:defRPr sz="750">
                <a:solidFill>
                  <a:srgbClr val="9AADFF"/>
                </a:solidFill>
                <a:latin typeface="Segoe UI"/>
              </a:defRPr>
            </a:pPr>
            <a:r>
              <a:t>March 2020 (COVID trough)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371600"/>
            <a:ext cx="1325880" cy="1051560"/>
          </a:xfrm>
          <a:prstGeom prst="round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1444752"/>
            <a:ext cx="11887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2,103</a:t>
            </a:r>
          </a:p>
          <a:p>
            <a:pPr>
              <a:defRPr sz="850" b="1">
                <a:solidFill>
                  <a:srgbClr val="FFFFFF"/>
                </a:solidFill>
                <a:latin typeface="Segoe UI"/>
              </a:defRPr>
            </a:pPr>
            <a:r>
              <a:t>SERIES PEAK</a:t>
            </a:r>
          </a:p>
          <a:p>
            <a:pPr>
              <a:defRPr sz="750">
                <a:solidFill>
                  <a:srgbClr val="9AADFF"/>
                </a:solidFill>
                <a:latin typeface="Segoe UI"/>
              </a:defRPr>
            </a:pPr>
            <a:r>
              <a:t>May 2023 (Rebound peak)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371600"/>
            <a:ext cx="1325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444752"/>
            <a:ext cx="11887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93E9C"/>
                </a:solidFill>
                <a:latin typeface="Trebuchet MS"/>
              </a:defRPr>
            </a:pPr>
            <a:r>
              <a:t>156.8</a:t>
            </a:r>
          </a:p>
          <a:p>
            <a:pPr>
              <a:defRPr sz="850" b="1">
                <a:solidFill>
                  <a:srgbClr val="293E9C"/>
                </a:solidFill>
                <a:latin typeface="Segoe UI"/>
              </a:defRPr>
            </a:pPr>
            <a:r>
              <a:t>GRAND MEAN</a:t>
            </a:r>
          </a:p>
          <a:p>
            <a:pPr>
              <a:defRPr sz="750">
                <a:solidFill>
                  <a:srgbClr val="647491"/>
                </a:solidFill>
                <a:latin typeface="Segoe UI"/>
              </a:defRPr>
            </a:pPr>
            <a:r>
              <a:t>Per neighborhood-month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44805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3794760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93E9C"/>
                </a:solidFill>
                <a:latin typeface="Trebuchet MS"/>
              </a:defRPr>
            </a:pPr>
            <a:r>
              <a:t>Trajectory Overview: Three Clear Phases</a:t>
            </a:r>
          </a:p>
          <a:p>
            <a:pPr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2017–2020 Decline: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Annual average fell from 176.31 to 109.02 (~-38% cumulative drop). Year-over-year changes: -18.98% (2018), -4.94% (2019), and -19.71% (2020).</a:t>
            </a:r>
          </a:p>
          <a:p>
            <a:pPr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2021–2023 Rebound &amp; Peak: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Counts rebounded sharply: +25.85% (2021) and +57.63% (2022), reaching an annual average of 223.98 in 2023 — more than double the 2020 trough.</a:t>
            </a:r>
          </a:p>
          <a:p>
            <a:pPr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2024–2025 Pullback &amp; Stabilization: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A steep -43.52% drop in 2024 brought the annual average down to 126.50; 2025 remained roughly flat (-2.94%) at 122.78.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371600"/>
            <a:ext cx="6339535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art1_clean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432714"/>
            <a:ext cx="6065215" cy="263265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Source: DSDP Monthly Counts (2017–2025)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77240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A58E4"/>
                </a:solidFill>
                <a:latin typeface="Segoe UI"/>
              </a:defRPr>
            </a:pPr>
            <a:r>
              <a:t>SEASONAL ANALYSIS</a:t>
            </a:r>
          </a:p>
          <a:p>
            <a:pPr>
              <a:defRPr sz="2100" b="1">
                <a:solidFill>
                  <a:srgbClr val="293E9C"/>
                </a:solidFill>
                <a:latin typeface="Trebuchet MS"/>
              </a:defRPr>
            </a:pPr>
            <a:r>
              <a:t>Calendar-Month Seasonality: Modest Variance vs. Annual Swings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2976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384048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293E9C"/>
                </a:solidFill>
                <a:latin typeface="Trebuchet MS"/>
              </a:defRPr>
            </a:pPr>
            <a:r>
              <a:t>Quantifying Calendar Seasonality</a:t>
            </a:r>
          </a:p>
          <a:p>
            <a:pPr>
              <a:spcAft>
                <a:spcPts val="800"/>
              </a:spcAft>
              <a:defRPr sz="1050" b="1">
                <a:solidFill>
                  <a:srgbClr val="3A58E4"/>
                </a:solidFill>
                <a:latin typeface="Segoe UI"/>
              </a:defRPr>
            </a:pPr>
            <a:r>
              <a:t>Key Takeaway: Which YEAR a month falls in matters far more than which calendar month it is.</a:t>
            </a:r>
          </a:p>
          <a:p>
            <a:pPr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Modest Range of Deviation: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No single calendar month deviates by more than ~5% from the grand mean (156.78). The peak-to-trough spread is only ~8.4 percentage points.</a:t>
            </a:r>
          </a:p>
          <a:p>
            <a:pPr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Top 3 Highest Months: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Feb (+3.2%, 161.76), Aug (+3.1%, 161.61), and May (+2.6%, 160.93).</a:t>
            </a:r>
          </a:p>
          <a:p>
            <a:pPr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Top 3 Lowest Months: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Mar (-5.2%, 148.67), Sep (-2.0%, 153.63), Nov (-2.1%, 153.43) [Apr: -2.1%, 153.53].</a:t>
            </a:r>
          </a:p>
          <a:p>
            <a:pPr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Large Residual Variance: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Month-to-month standard deviations (187–216) dwarf monthly mean differences, confirming macro annual shocks overpower calendar cycles.</a:t>
            </a:r>
          </a:p>
          <a:p>
            <a:pPr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East Village Sub-Pattern: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East Village diverges from citywide rhythm: peaks in Jul–Aug (~601–604) and dips in spring (Mar–Apr, ~509).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371600"/>
            <a:ext cx="6202375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2_clean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298157"/>
            <a:ext cx="5836615" cy="299320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Source: DSDP Monthly Counts (2017–2025)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77240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A58E4"/>
                </a:solidFill>
                <a:latin typeface="Segoe UI"/>
              </a:defRPr>
            </a:pPr>
            <a:r>
              <a:t>SPATIAL DYNAMICS</a:t>
            </a:r>
          </a:p>
          <a:p>
            <a:pPr>
              <a:defRPr sz="2100" b="1">
                <a:solidFill>
                  <a:srgbClr val="293E9C"/>
                </a:solidFill>
                <a:latin typeface="Trebuchet MS"/>
              </a:defRPr>
            </a:pPr>
            <a:r>
              <a:t>Neighborhood Rankings: Volume Concentration vs. Growth Rates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2976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384048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293E9C"/>
                </a:solidFill>
                <a:latin typeface="Trebuchet MS"/>
              </a:defRPr>
            </a:pPr>
            <a:r>
              <a:t>Volume Scale vs. Growth Dynamic</a:t>
            </a:r>
          </a:p>
          <a:p>
            <a:pPr>
              <a:spcAft>
                <a:spcPts val="600"/>
              </a:spcAft>
              <a:defRPr sz="1050" b="1">
                <a:solidFill>
                  <a:srgbClr val="3A58E4"/>
                </a:solidFill>
                <a:latin typeface="Segoe UI"/>
              </a:defRPr>
            </a:pPr>
            <a:r>
              <a:t>Core Insight: Growth is NOT concentrated in the largest neighborhood.</a:t>
            </a:r>
          </a:p>
          <a:p>
            <a:pPr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By Average Monthly Count (Magnitude):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  1. East Village: 552.77 (std 157.09 — highest volume &amp; volatility)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  2. Outside Perimeter: 217.57 (partial coverage, 56 obs)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  3. City Center: 171.81 (std 54.80)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  4. Cortez: 59.52  |  5. Gaslamp: 48.43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  6. Columbia: 44.49  |  7. Marina: 30.94 (smallest, std 15.82)</a:t>
            </a:r>
          </a:p>
          <a:p>
            <a:pPr>
              <a:spcBef>
                <a:spcPts val="400"/>
              </a:spcBef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By Growth Rate (Mean YoY %, 2019+):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- Fastest Growing: Outside Perimeter (+26.90%/yr), Cortez (+11.96%/yr), City Center (+3.94%/yr).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- Modest Core Growth: East Village grew slowly (+1.64%/yr) despite ~55% volume share.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- Shrinking Areas: Marina (-12.76%/yr) and Columbia (-4.28%/yr) had sustained drops.</a:t>
            </a:r>
          </a:p>
          <a:p>
            <a:pPr>
              <a:spcBef>
                <a:spcPts val="400"/>
              </a:spcBef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Spatial Sub-Area Asymmetry: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North East &amp; South East EV consistently outcount West sub-areas.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371600"/>
            <a:ext cx="6202375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7_yoy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413714"/>
            <a:ext cx="5836615" cy="276209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Source: DSDP Monthly Counts (2017–2025)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77240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A58E4"/>
                </a:solidFill>
                <a:latin typeface="Segoe UI"/>
              </a:defRPr>
            </a:pPr>
            <a:r>
              <a:t>PANDEMIC IMPACT</a:t>
            </a:r>
          </a:p>
          <a:p>
            <a:pPr>
              <a:defRPr sz="2100" b="1">
                <a:solidFill>
                  <a:srgbClr val="293E9C"/>
                </a:solidFill>
                <a:latin typeface="Trebuchet MS"/>
              </a:defRPr>
            </a:pPr>
            <a:r>
              <a:t>COVID-19 Period Impact: Temporary Suppression &amp; Sharp Rebound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2976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384048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293E9C"/>
                </a:solidFill>
                <a:latin typeface="Trebuchet MS"/>
              </a:defRPr>
            </a:pPr>
            <a:r>
              <a:t>Pandemic Shock &amp; Rebound Profile</a:t>
            </a:r>
          </a:p>
          <a:p>
            <a:pPr>
              <a:spcAft>
                <a:spcPts val="800"/>
              </a:spcAft>
              <a:defRPr sz="1050" b="1">
                <a:solidFill>
                  <a:srgbClr val="3A58E4"/>
                </a:solidFill>
                <a:latin typeface="Segoe UI"/>
              </a:defRPr>
            </a:pPr>
            <a:r>
              <a:t>Finding: Pandemic programs suppressed visible street counts without a lasting reduction in demand.</a:t>
            </a:r>
          </a:p>
          <a:p>
            <a:pPr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Series All-Time Low (March 2020):</a:t>
            </a:r>
          </a:p>
          <a:p>
            <a:pPr>
              <a:spcAft>
                <a:spcPts val="6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Citywide unsheltered total hit its series low of 529 in March 2020 at the onset of initial COVID shelter-in-place orders.</a:t>
            </a:r>
          </a:p>
          <a:p>
            <a:pPr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2020 Annual Trough (~20% Reduction):</a:t>
            </a:r>
          </a:p>
          <a:p>
            <a:pPr>
              <a:spcAft>
                <a:spcPts val="6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2020 annual average (654.1) dropped ~20% below the 2019 pre-COVID baseline (814.72), reflecting -19.71% YoY contraction.</a:t>
            </a:r>
          </a:p>
          <a:p>
            <a:pPr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Full Recovery by 2021:</a:t>
            </a:r>
          </a:p>
          <a:p>
            <a:pPr>
              <a:spcAft>
                <a:spcPts val="6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Counts recovered to an annual average of 960.37 in 2021 (+25.85% YoY), climbing above pre-COVID baseline levels prior to the 2022–2023 surge.</a:t>
            </a:r>
          </a:p>
          <a:p>
            <a:pPr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Operational &amp; Policy Mechanisms:</a:t>
            </a:r>
          </a:p>
          <a:p>
            <a:pPr>
              <a:spcAft>
                <a:spcPts val="6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Emergency indoor shelter placements (Convention Center Operation Shelter to Home), eviction moratoria, and curtailed street sweeps temporarily reduced visible unsheltered numbers; demobilization preceded the 2022–2023 peak.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371600"/>
            <a:ext cx="6202375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8_clean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417456"/>
            <a:ext cx="5836615" cy="27546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Source: DSDP Monthly Counts (2017–2025)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77240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A58E4"/>
                </a:solidFill>
                <a:latin typeface="Segoe UI"/>
              </a:defRPr>
            </a:pPr>
            <a:r>
              <a:t>DATA GOVERNANCE</a:t>
            </a:r>
          </a:p>
          <a:p>
            <a:pPr>
              <a:defRPr sz="2100" b="1">
                <a:solidFill>
                  <a:srgbClr val="293E9C"/>
                </a:solidFill>
                <a:latin typeface="Trebuchet MS"/>
              </a:defRPr>
            </a:pPr>
            <a:r>
              <a:t>Methodology Regimes: Quantifying the Raw vs. Adjusted Count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2976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384048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293E9C"/>
                </a:solidFill>
                <a:latin typeface="Trebuchet MS"/>
              </a:defRPr>
            </a:pPr>
            <a:r>
              <a:t>Evaluation of Multiplier Regimes</a:t>
            </a:r>
          </a:p>
          <a:p>
            <a:pPr>
              <a:spcAft>
                <a:spcPts val="800"/>
              </a:spcAft>
              <a:defRPr sz="1050" b="1">
                <a:solidFill>
                  <a:srgbClr val="3A58E4"/>
                </a:solidFill>
                <a:latin typeface="Segoe UI"/>
              </a:defRPr>
            </a:pPr>
            <a:r>
              <a:t>Conclusion: Multipliers produce a proportional gap without distorting longitudinal trendlines.</a:t>
            </a:r>
          </a:p>
          <a:p>
            <a:pPr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Four Historical Regimes: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- PRE2017 (Jan–Mar 2017): Direct visual count, no component breakout.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- APR2017 (Apr 2017–Apr 2018): Vehicle multiplier set to 1.66×.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- MAY2018 (May 2018–Dec 2019): Vehicle multiplier increased to 2.03×.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- POST2020 (Jan 2020–present): 2.03× retained by DSDP for continuity.</a:t>
            </a:r>
          </a:p>
          <a:p>
            <a:pPr>
              <a:spcBef>
                <a:spcPts val="300"/>
              </a:spcBef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2018 Volatility &amp; Source Discrepancy: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Gap (total_count - raw_count) peaked in 2018 (avg +13.5/mo, spiking to +156.61 in Feb 2018). Audit logged Feb 2018 spike as partly a source-PDF addition error (+30 discrepancy), not purely multiplier mechanics.</a:t>
            </a:r>
          </a:p>
          <a:p>
            <a:pPr>
              <a:spcBef>
                <a:spcPts val="300"/>
              </a:spcBef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2019+ Gap Stabilization: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From 2019 onward, monthly gap stabilized to near-zero (roughly ±1 to ±5/month), well within expected rounding tolerance (±2).</a:t>
            </a:r>
          </a:p>
          <a:p>
            <a:pPr>
              <a:spcBef>
                <a:spcPts val="300"/>
              </a:spcBef>
              <a:defRPr sz="1000" b="1">
                <a:solidFill>
                  <a:srgbClr val="3A58E4"/>
                </a:solidFill>
                <a:latin typeface="Segoe UI"/>
              </a:defRPr>
            </a:pPr>
            <a:r>
              <a:t>• Pre-2018 Constraint:</a:t>
            </a:r>
          </a:p>
          <a:p>
            <a:pPr>
              <a:defRPr sz="880">
                <a:solidFill>
                  <a:srgbClr val="1D1F26"/>
                </a:solidFill>
                <a:latin typeface="Segoe UI"/>
              </a:defRPr>
            </a:pPr>
            <a:r>
              <a:t>  Because component breakouts began in Jan 2018, raw and adjusted totals are identical across all of 2017 (gap = 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371600"/>
            <a:ext cx="6202375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9_clean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528047"/>
            <a:ext cx="5836615" cy="25334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Source: DSDP Monthly Counts (2017–2025)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77240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A58E4"/>
                </a:solidFill>
                <a:latin typeface="Segoe UI"/>
              </a:defRPr>
            </a:pPr>
            <a:r>
              <a:t>RESEARCH DIRECTIONS</a:t>
            </a:r>
          </a:p>
          <a:p>
            <a:pPr>
              <a:defRPr sz="2100" b="1">
                <a:solidFill>
                  <a:srgbClr val="293E9C"/>
                </a:solidFill>
                <a:latin typeface="Trebuchet MS"/>
              </a:defRPr>
            </a:pPr>
            <a:r>
              <a:t>Hypotheses for Further Analysis: Focus Areas for Later Tasks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87975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435608"/>
            <a:ext cx="5251399" cy="54864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922215" cy="1600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93E9C"/>
                </a:solidFill>
                <a:latin typeface="Trebuchet MS"/>
              </a:defRPr>
            </a:pPr>
            <a:r>
              <a:t>H1: Policy &amp; Enforcement Driver of 2022–2023 Peak</a:t>
            </a:r>
          </a:p>
          <a:p>
            <a:pPr>
              <a:spcAft>
                <a:spcPts val="400"/>
              </a:spcAft>
              <a:defRPr sz="850" b="1">
                <a:solidFill>
                  <a:srgbClr val="3A58E4"/>
                </a:solidFill>
                <a:latin typeface="Segoe UI"/>
              </a:defRPr>
            </a:pPr>
            <a:r>
              <a:t>SYNCHRONIZED CITYWIDE SURGE</a:t>
            </a:r>
          </a:p>
          <a:p>
            <a:pPr>
              <a:spcAft>
                <a:spcPts val="4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The +57.63% (2022) surge hit nearly every neighborhood simultaneously (Cortez +129%, Outside Perimeter +87%, East Village +50%). This synchronized timing points to systemic citywide drivers (eviction moratorium expirations, shelter demobilizations, or sweep shifts) rather than local dynamics.</a:t>
            </a:r>
          </a:p>
          <a:p>
            <a:pPr>
              <a:defRPr sz="900" b="1">
                <a:solidFill>
                  <a:srgbClr val="293E9C"/>
                </a:solidFill>
                <a:latin typeface="Segoe UI"/>
              </a:defRPr>
            </a:pPr>
            <a:r>
              <a:t>• Test: Correlate monthly counts against RTFH policy timelines, shelter census, and 311 encampment dispatch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287975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435608"/>
            <a:ext cx="5251399" cy="54864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81912"/>
            <a:ext cx="4922215" cy="1600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93E9C"/>
                </a:solidFill>
                <a:latin typeface="Trebuchet MS"/>
              </a:defRPr>
            </a:pPr>
            <a:r>
              <a:t>H2: East Village Asymmetry Reflects Built Environment</a:t>
            </a:r>
          </a:p>
          <a:p>
            <a:pPr>
              <a:spcAft>
                <a:spcPts val="400"/>
              </a:spcAft>
              <a:defRPr sz="850" b="1">
                <a:solidFill>
                  <a:srgbClr val="3A58E4"/>
                </a:solidFill>
                <a:latin typeface="Segoe UI"/>
              </a:defRPr>
            </a:pPr>
            <a:r>
              <a:t>EAST VS. WEST INFRASTRUCTURE DIVIDE</a:t>
            </a:r>
          </a:p>
          <a:p>
            <a:pPr>
              <a:spcAft>
                <a:spcPts val="4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East Village sub-areas show persistent asymmetry: North East and South East EV consistently outcount North West and South West EV across 2018–2025. This concentration indicates infrastructure and zoning drivers.</a:t>
            </a:r>
          </a:p>
          <a:p>
            <a:pPr>
              <a:defRPr sz="900" b="1">
                <a:solidFill>
                  <a:srgbClr val="293E9C"/>
                </a:solidFill>
                <a:latin typeface="Segoe UI"/>
              </a:defRPr>
            </a:pPr>
            <a:r>
              <a:t>• Test: Spatial autocorrelation (Moran's I / Getis-Ord Gi* in Assignment 5) against transit hubs, shelter proximity, and zoning.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5287975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3584448"/>
            <a:ext cx="5251399" cy="54864"/>
          </a:xfrm>
          <a:prstGeom prst="rect">
            <a:avLst/>
          </a:prstGeom>
          <a:solidFill>
            <a:srgbClr val="698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30752"/>
            <a:ext cx="4922215" cy="1600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93E9C"/>
                </a:solidFill>
                <a:latin typeface="Trebuchet MS"/>
              </a:defRPr>
            </a:pPr>
            <a:r>
              <a:t>H3: 2024 Pullback (-43.52%) May Be a Reporting Artifact</a:t>
            </a:r>
          </a:p>
          <a:p>
            <a:pPr>
              <a:spcAft>
                <a:spcPts val="400"/>
              </a:spcAft>
              <a:defRPr sz="850" b="1">
                <a:solidFill>
                  <a:srgbClr val="3A58E4"/>
                </a:solidFill>
                <a:latin typeface="Segoe UI"/>
              </a:defRPr>
            </a:pPr>
            <a:r>
              <a:t>RAPID SINGLE-YEAR DROP SCRUTINY</a:t>
            </a:r>
          </a:p>
          <a:p>
            <a:pPr>
              <a:spcAft>
                <a:spcPts val="4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A steep -43.52% drop in a single year immediately after the historical peak warrants verification against external benchmarks before reading it as a true population drop. Count area or staffing changes may be confounders.</a:t>
            </a:r>
          </a:p>
          <a:p>
            <a:pPr>
              <a:defRPr sz="900" b="1">
                <a:solidFill>
                  <a:srgbClr val="293E9C"/>
                </a:solidFill>
                <a:latin typeface="Segoe UI"/>
              </a:defRPr>
            </a:pPr>
            <a:r>
              <a:t>• Test: Benchmark against independent RTFH Point-in-Time (PIT) counts and audit 2024 DSDP canvassing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566160"/>
            <a:ext cx="5287975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3584448"/>
            <a:ext cx="5251399" cy="54864"/>
          </a:xfrm>
          <a:prstGeom prst="rect">
            <a:avLst/>
          </a:prstGeom>
          <a:solidFill>
            <a:srgbClr val="9A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730752"/>
            <a:ext cx="4922215" cy="1600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93E9C"/>
                </a:solidFill>
                <a:latin typeface="Trebuchet MS"/>
              </a:defRPr>
            </a:pPr>
            <a:r>
              <a:t>H4: Neighborhood Growth Inversely Related to Area Size</a:t>
            </a:r>
          </a:p>
          <a:p>
            <a:pPr>
              <a:spcAft>
                <a:spcPts val="400"/>
              </a:spcAft>
              <a:defRPr sz="850" b="1">
                <a:solidFill>
                  <a:srgbClr val="3A58E4"/>
                </a:solidFill>
                <a:latin typeface="Segoe UI"/>
              </a:defRPr>
            </a:pPr>
            <a:r>
              <a:t>PERIPHERAL DISPLACEMENT DYNAMICS</a:t>
            </a:r>
          </a:p>
          <a:p>
            <a:pPr>
              <a:spcAft>
                <a:spcPts val="4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Mid-sized areas grow fastest (Outside Perimeter +26.90%, Cortez +11.96%, City Center +3.94%), while East Village grows slowly (+1.64%) and Marina shrinks (-12.76%). Enforcement in core areas may displace individuals to borders.</a:t>
            </a:r>
          </a:p>
          <a:p>
            <a:pPr>
              <a:defRPr sz="900" b="1">
                <a:solidFill>
                  <a:srgbClr val="293E9C"/>
                </a:solidFill>
                <a:latin typeface="Segoe UI"/>
              </a:defRPr>
            </a:pPr>
            <a:r>
              <a:t>• Test: Perform spatial adjacency and boundary-flow analysis in Assignment 5 to evaluate displacement effects.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Source: DSDP Monthly Counts (2017–2025)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77240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A58E4"/>
                </a:solidFill>
                <a:latin typeface="Segoe UI"/>
              </a:defRPr>
            </a:pPr>
            <a:r>
              <a:t>PROJECT ROADMAP</a:t>
            </a:r>
          </a:p>
          <a:p>
            <a:pPr>
              <a:defRPr sz="2100" b="1">
                <a:solidFill>
                  <a:srgbClr val="293E9C"/>
                </a:solidFill>
                <a:latin typeface="Trebuchet MS"/>
              </a:defRPr>
            </a:pPr>
            <a:r>
              <a:t>Data Limitations, Governance Caveats &amp; Roadmap Ahead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2578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80060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293E9C"/>
                </a:solidFill>
                <a:latin typeface="Trebuchet MS"/>
              </a:defRPr>
            </a:pPr>
            <a:r>
              <a:t>Identified Data Limitations &amp; Biases</a:t>
            </a:r>
          </a:p>
          <a:p>
            <a:pPr>
              <a:defRPr sz="1000" b="1">
                <a:solidFill>
                  <a:srgbClr val="DC2626"/>
                </a:solidFill>
                <a:latin typeface="Segoe UI"/>
              </a:defRPr>
            </a:pPr>
            <a:r>
              <a:t>• Incomplete 2025 Series (Reporting Lag):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28 nulls in total_count (Jul, Aug, Oct, Nov 2025 across all 7 neighborhoods) represent unreleased counts, not data errors. All 2025 annual figures must be treated as partial-year.</a:t>
            </a:r>
          </a:p>
          <a:p>
            <a:pPr>
              <a:defRPr sz="1000" b="1">
                <a:solidFill>
                  <a:srgbClr val="DC2626"/>
                </a:solidFill>
                <a:latin typeface="Segoe UI"/>
              </a:defRPr>
            </a:pPr>
            <a:r>
              <a:t>• Outside Perimeter Partial History: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Outside Perimeter contains only 56 observations (canvassing began ~2022). Its reported +26.90%/yr growth rate is the least statistically reliable neighborhood figure.</a:t>
            </a:r>
          </a:p>
          <a:p>
            <a:pPr>
              <a:defRPr sz="1000" b="1">
                <a:solidFill>
                  <a:srgbClr val="DC2626"/>
                </a:solidFill>
                <a:latin typeface="Segoe UI"/>
              </a:defRPr>
            </a:pPr>
            <a:r>
              <a:t>• Pre-2018 Lack of Component Breakouts: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Component-level counts (tents, vehicles) are unavailable before Jan 2018. Raw and adjusted totals are identical for all of 2017, precluding early multiplier analysis.</a:t>
            </a:r>
          </a:p>
          <a:p>
            <a:pPr>
              <a:defRPr sz="1000" b="1">
                <a:solidFill>
                  <a:srgbClr val="DC2626"/>
                </a:solidFill>
                <a:latin typeface="Segoe UI"/>
              </a:defRPr>
            </a:pPr>
            <a:r>
              <a:t>• Documented Source-PDF Addition Errors: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Task 1.1's 45-cell audit found a 97.56% fidelity rate against source PDFs, noting known errors (Feb 2018 +30 PDF addition bug, 2019 EV sub-area duplication, Apr 2025 discrepancy).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2194560"/>
            <a:ext cx="52578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2377440"/>
            <a:ext cx="480060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293E9C"/>
                </a:solidFill>
                <a:latin typeface="Trebuchet MS"/>
              </a:defRPr>
            </a:pPr>
            <a:r>
              <a:t>Roadmap Ahead: Assignment 3 Integration</a:t>
            </a:r>
          </a:p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• Immediate Deliverable: Assignment 3: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Block-Level Validation &amp; Spatial Integration — moving from macro neighborhood aggregates to granular micro-data across 500+ individual block parcels.</a:t>
            </a:r>
          </a:p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• Granular Block-Level Mapping: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Audit street-level counts, reconcile boundary discrepancies, and align block records with GIS city parcel boundaries.</a:t>
            </a:r>
          </a:p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• Spatial Autocorrelation Modeling: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Execute Global Moran's I and Local Getis-Ord Gi* hot-spot detection in Assignment 5 to quantify spatial clustering around transit nodes and service hubs.</a:t>
            </a:r>
          </a:p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• Cross-Dataset Validation &amp; Benchmarking:</a:t>
            </a:r>
          </a:p>
          <a:p>
            <a:pPr>
              <a:spcAft>
                <a:spcPts val="500"/>
              </a:spcAft>
              <a:defRPr sz="919">
                <a:solidFill>
                  <a:srgbClr val="1D1F26"/>
                </a:solidFill>
                <a:latin typeface="Segoe UI"/>
              </a:defRPr>
            </a:pPr>
            <a:r>
              <a:t>  Cross-reference DSDP monthly counts with regional RTFH annual Point-in-Time (PIT) benchmarks and City of San Diego 311 service call logs.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Source: DSDP Monthly Counts (2017–2025)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