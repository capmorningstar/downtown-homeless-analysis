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4114800" cy="384048"/>
          </a:xfrm>
          <a:prstGeom prst="roundRect">
            <a:avLst/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4114800" cy="384048"/>
          </a:xfrm>
          <a:prstGeom prst="rect">
            <a:avLst/>
          </a:prstGeom>
          <a:noFill/>
        </p:spPr>
        <p:txBody>
          <a:bodyPr wrap="none" lIns="164592" tIns="73152">
            <a:spAutoFit/>
          </a:bodyPr>
          <a:lstStyle/>
          <a:p>
            <a:pPr>
              <a:defRPr sz="1000" b="1">
                <a:solidFill>
                  <a:srgbClr val="293E9C"/>
                </a:solidFill>
                <a:latin typeface="Segoe UI"/>
              </a:defRPr>
            </a:pPr>
            <a:r>
              <a:t>DATA SCIENCE ALLIANCE • TASK 2.3 CHECK-IN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11680"/>
            <a:ext cx="91440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293E9C"/>
                </a:solidFill>
                <a:latin typeface="Trebuchet MS"/>
              </a:defRPr>
            </a:pPr>
            <a:r>
              <a:t>Downtown San Diego Unsheltered</a:t>
            </a:r>
            <a:br/>
            <a:r>
              <a:t>Homeless Population: EDA Findings</a:t>
            </a:r>
          </a:p>
          <a:p>
            <a:pPr>
              <a:defRPr sz="1700" b="1">
                <a:solidFill>
                  <a:srgbClr val="3A58E4"/>
                </a:solidFill>
                <a:latin typeface="Segoe UI"/>
              </a:defRPr>
            </a:pPr>
            <a:r>
              <a:t>Kyaw Soe Lwin | Data Science Alliance | 2017–2025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9768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SOURCE DATA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Downtown San Diego Partnership (DSDP) Clean &amp; Safe monthly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LONGITUDINAL SCOPE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2017–2025 (8 full &amp; partial calendar years, 7 downtown neighborhoods)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ANALYSIS FOCUS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Overall trajectory, seasonality, COVID dip, methodology &amp; spatial dynamics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LONGITUDINAL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Overall Longitudinal Trend: Three Distinct Phases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529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LOW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March 2020 (COVID trough)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2,103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PEAK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May 2023 (Rebound peak)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371600"/>
            <a:ext cx="1325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156.8</a:t>
            </a:r>
          </a:p>
          <a:p>
            <a:pPr>
              <a:defRPr sz="850" b="1">
                <a:solidFill>
                  <a:srgbClr val="293E9C"/>
                </a:solidFill>
                <a:latin typeface="Segoe UI"/>
              </a:defRPr>
            </a:pPr>
            <a:r>
              <a:t>GRAND MEAN</a:t>
            </a:r>
          </a:p>
          <a:p>
            <a:pPr>
              <a:defRPr sz="750">
                <a:solidFill>
                  <a:srgbClr val="647491"/>
                </a:solidFill>
                <a:latin typeface="Segoe UI"/>
              </a:defRPr>
            </a:pPr>
            <a:r>
              <a:t>Per neighborhood-month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448056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80360"/>
            <a:ext cx="3794760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3E9C"/>
                </a:solidFill>
                <a:latin typeface="Trebuchet MS"/>
              </a:defRPr>
            </a:pPr>
            <a:r>
              <a:t>Trajectory Overview: Three Clear Phases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2017–2020 Decline: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Annual average fell from 176.31 to 109.02 (~-38% cumulative drop). Year-over-year changes: -18.98% (2018), -4.94% (2019), and -19.71% (2020).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2021–2023 Rebound &amp; Peak: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rebounded sharply: +25.85% (2021) and +57.63% (2022), reaching an annual average of 223.98 in 2023 — more than double the 2020 trough.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2024–2025 Pullback &amp; Stabilization: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 steep -43.52% drop in 2024 brought the annual average down to 126.50; 2025 remained roughly flat (-2.94%) at 122.78.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633953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t1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432714"/>
            <a:ext cx="6065215" cy="263265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SEASONAL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Calendar-Month Seasonality: Modest Variance vs. Annual Swings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Quantifying Calendar Seasonality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Key Takeaway: Which YEAR a month falls in matters far more than which calendar month it is.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Modest Range of Deviation: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No single calendar month deviates by more than ~5% from the grand mean (156.78). The peak-to-trough spread is only ~8.4 percentage points.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Highest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Feb (+3.2%, 161.76), Aug (+3.1%, 161.61), and May (+2.6%, 160.93).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Lowest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Mar (-5.2%, 148.67), Sep (-2.0%, 153.63), Nov (-2.1%, 153.43) [Apr: -2.1%, 153.53].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Large Residual Variance: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Month-to-month standard deviations (187–216) dwarf monthly mean differences, confirming macro annual shocks overpower calendar cycles.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East Village Sub-Pattern: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East Village diverges from citywide rhythm: peaks in Jul–Aug (~601–604) and dips in spring (Mar–Apr, ~509).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2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298157"/>
            <a:ext cx="5836615" cy="29932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SPATIAL DYNAMICS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Neighborhood Rankings: Volume Concentration vs. Growth 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Volume Scale vs. Growth Dynamic</a:t>
            </a:r>
          </a:p>
          <a:p>
            <a:pPr>
              <a:spcAft>
                <a:spcPts val="6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Core Insight: Growth is NOT concentrated in the largest neighborhood.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Average Monthly Count (Magnitude):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1. East Village: 552.77 (std 157.09 — highest volume &amp; volatility)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2. Outside Perimeter: 217.57 (partial coverage, 56 obs)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3. City Center: 171.81 (std 54.80)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4. Cortez: 59.52  |  5. Gaslamp: 48.43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6. Columbia: 44.49  |  7. Marina: 30.94 (smallest, std 15.82)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Growth Rate (Mean YoY %, 2019+):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Fastest Growing: Outside Perimeter (+26.90%/yr), Cortez (+11.96%/yr), City Center (+3.94%/yr).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Modest Core Growth: East Village grew slowly (+1.64%/yr) despite ~55% volume share.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Shrinking Areas: Marina (-12.76%/yr) and Columbia (-4.28%/yr) had sustained drops.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Spatial Sub-Area Asymmetry: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North East &amp; South East EV consistently outcount West sub-areas.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7_yoy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413714"/>
            <a:ext cx="5836615" cy="276209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PANDEMIC IMPACT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COVID-19 Period Impact: Temporary Suppression &amp; Sharp Rebound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Pandemic Shock &amp; Rebound Profile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Finding: Pandemic programs suppressed visible street counts without a lasting reduction in demand.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Series All-Time Low (March 2020):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Citywide unsheltered total hit its series low of 529 in March 2020 at the onset of initial COVID shelter-in-place orders.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2020 Annual Trough (~20% Reduction):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2020 annual average (654.1) dropped ~20% below the 2019 pre-COVID baseline (814.72), reflecting -19.71% YoY contraction.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Full Recovery by 2021: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recovered to an annual average of 960.37 in 2021 (+46.82% YoY, citywide-total basis), climbing above pre-COVID baseline levels prior to the 2022–2023 surge.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Operational &amp; Policy Mechanisms: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Emergency indoor shelter placements (Convention Center Operation Shelter to Home), eviction moratoria, and curtailed street sweeps temporarily reduced visible unsheltered numbers; demobilization preceded the 2022–2023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8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417456"/>
            <a:ext cx="5836615" cy="27546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DATA GOVERNANCE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Methodology Regimes: Quantifying the Raw vs. Adjusted Count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Evaluation of Multiplier Regimes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Conclusion: Multipliers produce a proportional gap without distorting longitudinal trendlines.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Four Historical Regimes: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PRE2017 (Jan–Mar 2017): Direct visual count, no component breakout.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APR2017 (Apr 2017–Apr 2018): Vehicle multiplier set to 1.66×.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MAY2018 (May 2018–Dec 2019): Vehicle multiplier increased to 2.03×.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POST2020 (Jan 2020–present): 2.03× retained by DSDP for continuity.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2018 Volatility &amp; Source Discrepancy: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Gap (total_count - raw_count) peaked in 2018 (avg +13.5/mo, spiking to +156.61 in Feb 2018). Audit logged Feb 2018 spike as partly a source-PDF addition error (+30 discrepancy), not purely multiplier mechanics.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2019+ Gap Stabilization: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From 2019 onward, monthly gap stabilized to near-zero (roughly ±1 to ±5/month), well within expected rounding tolerance (±2).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Pre-2018 Constraint: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Because component breakouts began in Jan 2018, raw and adjusted totals are identical across all of 2017 (gap =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9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528047"/>
            <a:ext cx="5836615" cy="253342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RESEARCH DIRECTIONS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Hypotheses for Further Analysis: Focus Areas for Later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435608"/>
            <a:ext cx="5251399" cy="54864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H1: Policy &amp; Enforcement Driver of 2022–2023 Peak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SYNCHRONIZED CITYWIDE SURGE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The +57.63% (2022) surge hit nearly every neighborhood simultaneously (Cortez +129%, Outside Perimeter +87%, East Village +50%). This synchronized timing points to systemic citywide drivers (eviction moratorium expirations, shelter demobilizations, or sweep shifts) rather than local dynamics.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Correlate monthly counts against RTFH policy timelines, shelter census, and 311 encampment dispatch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35608"/>
            <a:ext cx="5251399" cy="54864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8191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H2: East Village Asymmetry Reflects Built Environment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EAST VS. WEST INFRASTRUCTURE DIVIDE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East Village sub-areas show persistent asymmetry: North East and South East EV consistently outcount North West and South West EV across 2018–2025. This concentration indicates infrastructure and zoning drivers.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Spatial autocorrelation (Moran's I / Getis-Ord Gi* in Assignment 5) against transit hubs, shelter proximity, and zoning.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3584448"/>
            <a:ext cx="5251399" cy="54864"/>
          </a:xfrm>
          <a:prstGeom prst="rect">
            <a:avLst/>
          </a:prstGeom>
          <a:solidFill>
            <a:srgbClr val="698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3075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H3: 2024 Pullback (-43.52%) May Be a Reporting Artifact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RAPID SINGLE-YEAR DROP SCRUTINY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A steep -43.52% drop in a single year immediately after the historical peak warrants verification against external benchmarks before reading it as a true population drop. Count area or staffing changes may be confounders.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Benchmark against independent RTFH Point-in-Time (PIT) counts and audit 2024 DSDP canvassing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56616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584448"/>
            <a:ext cx="5251399" cy="54864"/>
          </a:xfrm>
          <a:prstGeom prst="rect">
            <a:avLst/>
          </a:prstGeom>
          <a:solidFill>
            <a:srgbClr val="9A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3075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H4: Neighborhood Growth Inversely Related to Area Size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PERIPHERAL DISPLACEMENT DYNAMICS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Mid-sized areas grow fastest (Outside Perimeter +26.90%, Cortez +11.96%, City Center +3.94%), while East Village grows slowly (+1.64%) and Marina shrinks (-12.76%). Enforcement in core areas may displace individuals to borders.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Perform spatial adjacency and boundary-flow analysis in Assignment 5 to evaluate displacement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PROJECT ROADMAP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Data Limitations, Governance Caveats &amp; Roadmap Ahead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80060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Identified Data Limitations &amp; Biases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Incomplete 2025 Series (Reporting Lag):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28 nulls in total_count (Jul, Aug, Oct, Nov 2025 across all 7 neighborhoods) represent unreleased counts, not data errors. All 2025 annual figures must be treated as partial-year.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Outside Perimeter Partial History: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Outside Perimeter contains only 56 observations (canvassing began ~2022). Its reported +26.90%/yr growth rate is the least statistically reliable neighborhood figure.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Pre-2018 Lack of Component Breakouts: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Component-level counts (tents, vehicles) are unavailable before Jan 2018. Raw and adjusted totals are identical for all of 2017, precluding early multiplier analysis.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Documented Source-PDF Addition Errors: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Task 1.1's 45-cell audit found a 97.56% fidelity rate against source PDFs, noting known errors (Feb 2018 +30 PDF addition bug, 2019 EV sub-area duplication, Apr 2025 discrepancy).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2375" y="219456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2377440"/>
            <a:ext cx="480060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Roadmap Ahead: Assignment 3 Integration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Immediate Deliverable: Assignment 3: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Block-Level Validation &amp; Spatial Integration — moving from macro neighborhood aggregates to granular micro-data across 500+ individual block parcels.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Granular Block-Level Mapping: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Audit street-level counts, reconcile boundary discrepancies, and align block records with GIS city parcel boundaries.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Spatial Autocorrelation Modeling: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Execute Global Moran's I and Local Getis-Ord Gi* hot-spot detection in Assignment 5 to quantify spatial clustering around transit nodes and service hubs.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Cross-Dataset Validation &amp; Benchmarking: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Cross-reference DSDP monthly counts with regional RTFH annual Point-in-Time (PIT) benchmarks and City of San Diego 311 service call logs.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